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4630400" cy="8229600"/>
  <p:notesSz cx="8229600" cy="14630400"/>
  <p:embeddedFontLst>
    <p:embeddedFont>
      <p:font typeface="Barlow"/>
      <p:regular r:id="rId22"/>
    </p:embeddedFont>
    <p:embeddedFont>
      <p:font typeface="Barlow"/>
      <p:regular r:id="rId23"/>
    </p:embeddedFont>
    <p:embeddedFont>
      <p:font typeface="Barlow"/>
      <p:regular r:id="rId24"/>
    </p:embeddedFont>
    <p:embeddedFont>
      <p:font typeface="Barlow"/>
      <p:regular r:id="rId25"/>
    </p:embeddedFont>
    <p:embeddedFont>
      <p:font typeface="Montserrat"/>
      <p:regular r:id="rId26"/>
    </p:embeddedFont>
    <p:embeddedFont>
      <p:font typeface="Montserrat"/>
      <p:regular r:id="rId27"/>
    </p:embeddedFont>
    <p:embeddedFont>
      <p:font typeface="Montserrat"/>
      <p:regular r:id="rId28"/>
    </p:embeddedFont>
    <p:embeddedFont>
      <p:font typeface="Montserrat"/>
      <p:regular r:id="rId2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font" Target="fonts/font1.fntdata"/><Relationship Id="rId23" Type="http://schemas.openxmlformats.org/officeDocument/2006/relationships/font" Target="fonts/font2.fntdata"/><Relationship Id="rId24" Type="http://schemas.openxmlformats.org/officeDocument/2006/relationships/font" Target="fonts/font3.fntdata"/><Relationship Id="rId25" Type="http://schemas.openxmlformats.org/officeDocument/2006/relationships/font" Target="fonts/font4.fntdata"/><Relationship Id="rId26" Type="http://schemas.openxmlformats.org/officeDocument/2006/relationships/font" Target="fonts/font5.fntdata"/><Relationship Id="rId27" Type="http://schemas.openxmlformats.org/officeDocument/2006/relationships/font" Target="fonts/font6.fntdata"/><Relationship Id="rId28" Type="http://schemas.openxmlformats.org/officeDocument/2006/relationships/font" Target="fonts/font7.fntdata"/><Relationship Id="rId2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2" Type="http://schemas.openxmlformats.org/officeDocument/2006/relationships/image" Target="../media/image-1012-2.png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2" Type="http://schemas.openxmlformats.org/officeDocument/2006/relationships/image" Target="../media/image-1013-2.png"/><Relationship Id="rId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4-1.png"/><Relationship Id="rId2" Type="http://schemas.openxmlformats.org/officeDocument/2006/relationships/image" Target="../media/image-1014-2.png"/><Relationship Id="rId4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5-1.png"/><Relationship Id="rId2" Type="http://schemas.openxmlformats.org/officeDocument/2006/relationships/image" Target="../media/image-1015-2.png"/><Relationship Id="rId4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6-1.png"/><Relationship Id="rId2" Type="http://schemas.openxmlformats.org/officeDocument/2006/relationships/image" Target="../media/image-1016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0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3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4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3548" y="2946202"/>
            <a:ext cx="3116104" cy="233707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762363"/>
            <a:ext cx="94561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2025- 1학기 산학협력캡스톤 설계1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758309" y="2325648"/>
            <a:ext cx="7812881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깃폴리오(GitFolio)-2차 설계 발표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58309" y="3363278"/>
            <a:ext cx="94561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깃폴리오는 GitHub 레포지토리를 자동으로 분석하여 개발자 포트폴리오를 생성하는 확장프로그램.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58309" y="3953708"/>
            <a:ext cx="94561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58309" y="4544139"/>
            <a:ext cx="94561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58309" y="5134570"/>
            <a:ext cx="94561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58309" y="5725001"/>
            <a:ext cx="94561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18조: 깃폴리오(GitFolio)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58309" y="6315432"/>
            <a:ext cx="94561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발표자: 2019203024_김해찬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141101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목차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3287077"/>
            <a:ext cx="6448663" cy="789384"/>
          </a:xfrm>
          <a:prstGeom prst="roundRect">
            <a:avLst>
              <a:gd name="adj" fmla="val 24702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3340" dist="26670" dir="13500000">
              <a:srgbClr val="ffffff">
                <a:alpha val="7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74884" y="350365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1. 지난 발표 보완사항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23547" y="3287077"/>
            <a:ext cx="6448663" cy="789384"/>
          </a:xfrm>
          <a:prstGeom prst="roundRect">
            <a:avLst>
              <a:gd name="adj" fmla="val 24702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3340" dist="26670" dir="13500000">
              <a:srgbClr val="ffffff">
                <a:alpha val="7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40122" y="350365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2.  Proto type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58309" y="4293037"/>
            <a:ext cx="6448663" cy="789384"/>
          </a:xfrm>
          <a:prstGeom prst="roundRect">
            <a:avLst>
              <a:gd name="adj" fmla="val 24702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3340" dist="26670" dir="13500000">
              <a:srgbClr val="ffffff">
                <a:alpha val="7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74884" y="4509611"/>
            <a:ext cx="302430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3. 소프트웨어 개발 방법론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423547" y="4293037"/>
            <a:ext cx="6448663" cy="789384"/>
          </a:xfrm>
          <a:prstGeom prst="roundRect">
            <a:avLst>
              <a:gd name="adj" fmla="val 24702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3340" dist="26670" dir="13500000">
              <a:srgbClr val="ffffff">
                <a:alpha val="7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640122" y="450961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4. 상세 설계 와 해결방안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58309" y="5298996"/>
            <a:ext cx="13113782" cy="789384"/>
          </a:xfrm>
          <a:prstGeom prst="roundRect">
            <a:avLst>
              <a:gd name="adj" fmla="val 24702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3340" dist="26670" dir="13500000">
              <a:srgbClr val="ffffff">
                <a:alpha val="7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74884" y="5515570"/>
            <a:ext cx="6606659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                                                                                                    5. Q&amp;A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293495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지난 발표 보완 사항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439472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endParaRPr lang="en-US" sz="1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4774" y="3029902"/>
            <a:ext cx="2163723" cy="126599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176" y="3667839"/>
            <a:ext cx="304681" cy="30468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335072" y="324647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정확성 담보 필요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5335072" y="3732609"/>
            <a:ext cx="301656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포트폴리오의 정확성 및 평가 방안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172551" y="4307681"/>
            <a:ext cx="8645485" cy="15240"/>
          </a:xfrm>
          <a:prstGeom prst="roundRect">
            <a:avLst>
              <a:gd name="adj" fmla="val 1279500"/>
            </a:avLst>
          </a:prstGeom>
          <a:solidFill>
            <a:srgbClr val="C1C3D0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2972" y="4349948"/>
            <a:ext cx="4327446" cy="1265992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4295" y="4830485"/>
            <a:ext cx="304681" cy="30468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16993" y="456652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깃폴리오 vs 챗지피티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6416993" y="5052655"/>
            <a:ext cx="313003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차별점 강조 및 경쟁 우위 확보 전략</a:t>
            </a:r>
            <a:endParaRPr lang="en-US" sz="1700" dirty="0"/>
          </a:p>
        </p:txBody>
      </p:sp>
      <p:sp>
        <p:nvSpPr>
          <p:cNvPr id="13" name="Shape 7"/>
          <p:cNvSpPr/>
          <p:nvPr/>
        </p:nvSpPr>
        <p:spPr>
          <a:xfrm>
            <a:off x="6254472" y="5627727"/>
            <a:ext cx="7563564" cy="15240"/>
          </a:xfrm>
          <a:prstGeom prst="roundRect">
            <a:avLst>
              <a:gd name="adj" fmla="val 1279500"/>
            </a:avLst>
          </a:prstGeom>
          <a:solidFill>
            <a:srgbClr val="C1C3D0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051" y="5669994"/>
            <a:ext cx="6491288" cy="1265992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4295" y="6112550"/>
            <a:ext cx="304681" cy="38076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7498913" y="588656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활용가능성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7498913" y="6372701"/>
            <a:ext cx="372772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다양한 분야로의 확장 및 적용 가능성 탐색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576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15909" y="1971675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정확성 담보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4415909" y="3009305"/>
            <a:ext cx="94561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415909" y="3599736"/>
            <a:ext cx="94561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endParaRPr lang="en-US" sz="1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5909" y="4190167"/>
            <a:ext cx="541615" cy="54161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15909" y="494835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기술 자문단 구성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415909" y="5434489"/>
            <a:ext cx="4565571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 주니어/시니어 개발자 각 2-3명씩으로 구성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4415909" y="5911096"/>
            <a:ext cx="4565571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 깃폴리오 분석 vs 개발자 직접 작성 비교</a:t>
            </a:r>
            <a:endParaRPr lang="en-US" sz="17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6401" y="4190167"/>
            <a:ext cx="541615" cy="54161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306401" y="494835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확장프로그램에 게시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306401" y="5434489"/>
            <a:ext cx="456569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 Chrome 웹 스토어에 게시 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9306401" y="5911096"/>
            <a:ext cx="456569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 사용자 평점과 평가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612940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깃폴리오와 챗지피티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758916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58309" y="3349347"/>
            <a:ext cx="13113782" cy="3267313"/>
          </a:xfrm>
          <a:prstGeom prst="roundRect">
            <a:avLst>
              <a:gd name="adj" fmla="val 596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5929" y="3356967"/>
            <a:ext cx="13098542" cy="6217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82742" y="3494484"/>
            <a:ext cx="393001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항목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353526" y="3494484"/>
            <a:ext cx="392489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ChatGPT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719191" y="3494484"/>
            <a:ext cx="392870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GitFolio(확장프로그램)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65929" y="3978712"/>
            <a:ext cx="13098542" cy="131516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82742" y="4116229"/>
            <a:ext cx="393001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데이터 입력(토큰 제한)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353526" y="4116229"/>
            <a:ext cx="3924895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사용자가 코드·커밋 내용을 직접 복사해 Prompt 작성, 규모가 큰 프로젝트일 수록 토큰 제한으로  불편함이 존재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719191" y="4116229"/>
            <a:ext cx="3928705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GitHub API로 자동 수집 → 대규모 프로젝트의 경우에는 DB를 활용하여 자동화(편의성)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65929" y="5293876"/>
            <a:ext cx="13098542" cy="13151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82742" y="5431393"/>
            <a:ext cx="393001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정량화된 지표 활용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353526" y="5431393"/>
            <a:ext cx="3924895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ChatGPT가 LOC/commit /PR 기록/시간 등을 자동 계산해주지는 않음 -&gt; 별도 지시 필요, 누락 위험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719191" y="5431393"/>
            <a:ext cx="3928705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LOC, 변경 파일 수, merge 횟수, 커밋 메타데이터 등 각종 지표를 백엔드가 계산하여 풍부한 자료를 기반으로 정확한 분석 가능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950125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활용 가능성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987754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58309" y="3578185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58309" y="4168616"/>
            <a:ext cx="6448663" cy="2110859"/>
          </a:xfrm>
          <a:prstGeom prst="roundRect">
            <a:avLst>
              <a:gd name="adj" fmla="val 9238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3340" dist="26670" dir="13500000">
              <a:srgbClr val="ffffff">
                <a:alpha val="7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74884" y="4385191"/>
            <a:ext cx="2877264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취업준비생(개발자) 관점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74884" y="4871323"/>
            <a:ext cx="601551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시간 절약 &amp; 문서화 편의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74884" y="5293757"/>
            <a:ext cx="601551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정량 지표 확보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74884" y="5716191"/>
            <a:ext cx="601551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객관화된 로드맵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423547" y="4168616"/>
            <a:ext cx="6448663" cy="2110859"/>
          </a:xfrm>
          <a:prstGeom prst="roundRect">
            <a:avLst>
              <a:gd name="adj" fmla="val 9238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3340" dist="26670" dir="13500000">
              <a:srgbClr val="ffffff">
                <a:alpha val="7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640122" y="438519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인사담당자(HR) 관점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40122" y="4871323"/>
            <a:ext cx="601551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지원자 검증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640122" y="5293757"/>
            <a:ext cx="601551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빠른 평가 도구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4748" y="952262"/>
            <a:ext cx="4944785" cy="632507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58309" y="1431369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프로토타입 및 작동 과정</a:t>
            </a:r>
            <a:endParaRPr lang="en-US" sz="4450" dirty="0"/>
          </a:p>
        </p:txBody>
      </p:sp>
      <p:sp>
        <p:nvSpPr>
          <p:cNvPr id="5" name="Text 1"/>
          <p:cNvSpPr/>
          <p:nvPr/>
        </p:nvSpPr>
        <p:spPr>
          <a:xfrm>
            <a:off x="758309" y="2468999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758309" y="3059430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7" name="Shape 3"/>
          <p:cNvSpPr/>
          <p:nvPr/>
        </p:nvSpPr>
        <p:spPr>
          <a:xfrm>
            <a:off x="758309" y="3649861"/>
            <a:ext cx="162401" cy="832842"/>
          </a:xfrm>
          <a:prstGeom prst="roundRect">
            <a:avLst>
              <a:gd name="adj" fmla="val 120071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3340" dist="26670" dir="13500000">
              <a:srgbClr val="ffffff">
                <a:alpha val="7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1245632" y="364986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확장 프로그램 설치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245632" y="4135993"/>
            <a:ext cx="714005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Chrome 웹 스토어에서 깃폴리오 확장 프로그램을 설치합니다.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1083231" y="4699278"/>
            <a:ext cx="162401" cy="832842"/>
          </a:xfrm>
          <a:prstGeom prst="roundRect">
            <a:avLst>
              <a:gd name="adj" fmla="val 120071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3340" dist="26670" dir="13500000">
              <a:srgbClr val="ffffff">
                <a:alpha val="7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1570553" y="469927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GitHub 레포지토리 연동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1570553" y="5185410"/>
            <a:ext cx="681513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원하는 GitHub 레포지토리에 접속하여 연동합니다.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1408271" y="5748695"/>
            <a:ext cx="162401" cy="832842"/>
          </a:xfrm>
          <a:prstGeom prst="roundRect">
            <a:avLst>
              <a:gd name="adj" fmla="val 120071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3340" dist="26670" dir="13500000">
              <a:srgbClr val="ffffff">
                <a:alpha val="7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1895594" y="574869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포트폴리오 자동 생성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1895594" y="6234827"/>
            <a:ext cx="649009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데이터 분석 후 포트폴리오가 자동으로 생성됩니다.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631627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프로토타입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09" y="1777603"/>
            <a:ext cx="4154567" cy="51931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309" y="724150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시작 화면</a:t>
            </a:r>
            <a:endParaRPr lang="en-US" sz="2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7798" y="1777603"/>
            <a:ext cx="4154686" cy="51932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237798" y="724161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깃폴리오 설정</a:t>
            </a:r>
            <a:endParaRPr lang="en-US" sz="2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7405" y="1777603"/>
            <a:ext cx="4154567" cy="519314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717405" y="724150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분석 화면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093232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프로토타입 결과 화면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09" y="2239208"/>
            <a:ext cx="3034665" cy="37933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309" y="630328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API를 활용한 커밋정보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58309" y="6789420"/>
            <a:ext cx="30346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사용자가 커밋한 부분만 추출</a:t>
            </a:r>
            <a:endParaRPr lang="en-US" sz="1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7896" y="2239208"/>
            <a:ext cx="3034784" cy="3793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17896" y="6303407"/>
            <a:ext cx="2998589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프로젝트 개요와 기여내역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117896" y="6789539"/>
            <a:ext cx="303478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전체 개요와 사용자가 기여한 부분</a:t>
            </a:r>
            <a:endParaRPr lang="en-US" sz="1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601" y="2239208"/>
            <a:ext cx="3034784" cy="3793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77601" y="630340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작성한 코드에 대한 정보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477601" y="6789539"/>
            <a:ext cx="303478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기술 스택이나 코드 기여 부분</a:t>
            </a:r>
            <a:endParaRPr lang="en-US" sz="17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7307" y="2239208"/>
            <a:ext cx="3034784" cy="37934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837307" y="630340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전체 구조와 개발 패턴 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0837307" y="6789539"/>
            <a:ext cx="303478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프로젝트 전체 구조와 개발 과정석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885712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소프트웨어 개발 방법론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031688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58309" y="3703320"/>
            <a:ext cx="367724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[변형된 스크럼(Scrum)방법론]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58309" y="4384477"/>
            <a:ext cx="4226838" cy="1959412"/>
          </a:xfrm>
          <a:prstGeom prst="roundRect">
            <a:avLst>
              <a:gd name="adj" fmla="val 9952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3340" dist="26670" dir="13500000">
              <a:srgbClr val="ffffff">
                <a:alpha val="7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74884" y="460105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짧은 개발 기간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74884" y="5087183"/>
            <a:ext cx="379368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졸업 작품의 제한된 기간 내에 효율적인 개발이 필요(소프트웨어에 집중)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201722" y="4384477"/>
            <a:ext cx="4226838" cy="1959412"/>
          </a:xfrm>
          <a:prstGeom prst="roundRect">
            <a:avLst>
              <a:gd name="adj" fmla="val 9952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3340" dist="26670" dir="13500000">
              <a:srgbClr val="ffffff">
                <a:alpha val="7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18296" y="460105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일정 관리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18296" y="5087183"/>
            <a:ext cx="3793688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스프린트를 이용해 백로그(핵심 기능순)으로 집중 및 구현 하고 각 기능 별로 빠른 피드백과 검토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645134" y="4384477"/>
            <a:ext cx="4226838" cy="1959412"/>
          </a:xfrm>
          <a:prstGeom prst="roundRect">
            <a:avLst>
              <a:gd name="adj" fmla="val 9952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3340" dist="26670" dir="13500000">
              <a:srgbClr val="ffffff">
                <a:alpha val="7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861709" y="460105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팀 협업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861709" y="5087183"/>
            <a:ext cx="379368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졸업작품 특성상 팀규모가 작고 협업이 중요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998815"/>
            <a:ext cx="751867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기존 스크럼(Scrum)과의 차이점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144792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58309" y="2735223"/>
            <a:ext cx="13113782" cy="4495562"/>
          </a:xfrm>
          <a:prstGeom prst="roundRect">
            <a:avLst>
              <a:gd name="adj" fmla="val 433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5929" y="2742843"/>
            <a:ext cx="13098542" cy="6217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82504" y="2880360"/>
            <a:ext cx="611231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기존 스크럼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35585" y="2880360"/>
            <a:ext cx="611231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변형된 스크럼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5929" y="3364587"/>
            <a:ext cx="13098542" cy="144506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82504" y="3502104"/>
            <a:ext cx="611231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 Product Owner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 Scrum Master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 Dev Team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535585" y="3502104"/>
            <a:ext cx="611231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팀 전원이 PO+Dev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역할 병행(회의로 백로그 결정)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535585" y="3978712"/>
            <a:ext cx="611231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경량적인 진행 관리를 위한 PM 담당 1명(전체적인 진행계획은 팀회의로 결정) 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65929" y="4809649"/>
            <a:ext cx="13098542" cy="9684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82504" y="4947166"/>
            <a:ext cx="611231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Daily Stand‑up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535585" y="4947166"/>
            <a:ext cx="611231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주 2회 Discord/Notion으로 소통(월,토-우선순위와 진행도 확인과 스프린트 회고)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65929" y="5778103"/>
            <a:ext cx="13098542" cy="144506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82504" y="5915620"/>
            <a:ext cx="611231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82504" y="6392228"/>
            <a:ext cx="611231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외부 요구사항과 피드백, 요구사항 문서 등 (변형시 실시간 반영)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535585" y="5915620"/>
            <a:ext cx="611231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교수님+팀 내부 시연 → 피드백을 백로그에 반영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535585" y="6392228"/>
            <a:ext cx="611231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팀 회의+교수님을 통해 결정한 목표와 기능 리스트를 우선 순위화여 요구사항 문서 대체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3427" y="592217"/>
            <a:ext cx="4815126" cy="601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설계 구체화 (기능 흐름)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959167" y="1559957"/>
            <a:ext cx="22860" cy="6077426"/>
          </a:xfrm>
          <a:prstGeom prst="roundRect">
            <a:avLst>
              <a:gd name="adj" fmla="val 720380"/>
            </a:avLst>
          </a:prstGeom>
          <a:solidFill>
            <a:srgbClr val="C1C3D0"/>
          </a:solidFill>
          <a:ln/>
        </p:spPr>
      </p:sp>
      <p:sp>
        <p:nvSpPr>
          <p:cNvPr id="4" name="Shape 2"/>
          <p:cNvSpPr/>
          <p:nvPr/>
        </p:nvSpPr>
        <p:spPr>
          <a:xfrm>
            <a:off x="1142107" y="1960007"/>
            <a:ext cx="548878" cy="22860"/>
          </a:xfrm>
          <a:prstGeom prst="roundRect">
            <a:avLst>
              <a:gd name="adj" fmla="val 720380"/>
            </a:avLst>
          </a:prstGeom>
          <a:solidFill>
            <a:srgbClr val="C1C3D0"/>
          </a:solidFill>
          <a:ln/>
        </p:spPr>
      </p:sp>
      <p:sp>
        <p:nvSpPr>
          <p:cNvPr id="5" name="Shape 3"/>
          <p:cNvSpPr/>
          <p:nvPr/>
        </p:nvSpPr>
        <p:spPr>
          <a:xfrm>
            <a:off x="753368" y="1765697"/>
            <a:ext cx="411599" cy="411599"/>
          </a:xfrm>
          <a:prstGeom prst="roundRect">
            <a:avLst>
              <a:gd name="adj" fmla="val 40010"/>
            </a:avLst>
          </a:prstGeom>
          <a:solidFill>
            <a:srgbClr val="EEEFF5"/>
          </a:solidFill>
          <a:ln/>
          <a:effectLst>
            <a:outerShdw sx="100000" sy="100000" kx="0" ky="0" algn="bl" rotWithShape="0" blurRad="45720" dist="22860" dir="13500000">
              <a:srgbClr val="ffffff">
                <a:alpha val="7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685" y="1790879"/>
            <a:ext cx="288846" cy="3611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044" y="1742837"/>
            <a:ext cx="2407563" cy="300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GitHub 인증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1874044" y="2153483"/>
            <a:ext cx="12002929" cy="292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사용자의 GitHub 계정에 접근 권한을 얻습니다.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142107" y="3212068"/>
            <a:ext cx="548878" cy="22860"/>
          </a:xfrm>
          <a:prstGeom prst="roundRect">
            <a:avLst>
              <a:gd name="adj" fmla="val 720380"/>
            </a:avLst>
          </a:prstGeom>
          <a:solidFill>
            <a:srgbClr val="C1C3D0"/>
          </a:solidFill>
          <a:ln/>
        </p:spPr>
      </p:sp>
      <p:sp>
        <p:nvSpPr>
          <p:cNvPr id="10" name="Shape 7"/>
          <p:cNvSpPr/>
          <p:nvPr/>
        </p:nvSpPr>
        <p:spPr>
          <a:xfrm>
            <a:off x="753368" y="3017758"/>
            <a:ext cx="411599" cy="411599"/>
          </a:xfrm>
          <a:prstGeom prst="roundRect">
            <a:avLst>
              <a:gd name="adj" fmla="val 40010"/>
            </a:avLst>
          </a:prstGeom>
          <a:solidFill>
            <a:srgbClr val="EEEFF5"/>
          </a:solidFill>
          <a:ln/>
          <a:effectLst>
            <a:outerShdw sx="100000" sy="100000" kx="0" ky="0" algn="bl" rotWithShape="0" blurRad="45720" dist="22860" dir="13500000">
              <a:srgbClr val="ffffff">
                <a:alpha val="7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685" y="3079016"/>
            <a:ext cx="288846" cy="28884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74044" y="2994898"/>
            <a:ext cx="2407563" cy="300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레포지토리 선택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1874044" y="3405545"/>
            <a:ext cx="12002929" cy="292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분석할 레포지토리를 선택합니다.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1142107" y="4464129"/>
            <a:ext cx="548878" cy="22860"/>
          </a:xfrm>
          <a:prstGeom prst="roundRect">
            <a:avLst>
              <a:gd name="adj" fmla="val 720380"/>
            </a:avLst>
          </a:prstGeom>
          <a:solidFill>
            <a:srgbClr val="C1C3D0"/>
          </a:solidFill>
          <a:ln/>
        </p:spPr>
      </p:sp>
      <p:sp>
        <p:nvSpPr>
          <p:cNvPr id="15" name="Shape 11"/>
          <p:cNvSpPr/>
          <p:nvPr/>
        </p:nvSpPr>
        <p:spPr>
          <a:xfrm>
            <a:off x="753368" y="4269819"/>
            <a:ext cx="411599" cy="411599"/>
          </a:xfrm>
          <a:prstGeom prst="roundRect">
            <a:avLst>
              <a:gd name="adj" fmla="val 40010"/>
            </a:avLst>
          </a:prstGeom>
          <a:solidFill>
            <a:srgbClr val="EEEFF5"/>
          </a:solidFill>
          <a:ln/>
          <a:effectLst>
            <a:outerShdw sx="100000" sy="100000" kx="0" ky="0" algn="bl" rotWithShape="0" blurRad="45720" dist="22860" dir="13500000">
              <a:srgbClr val="ffffff">
                <a:alpha val="7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685" y="4295001"/>
            <a:ext cx="288846" cy="36111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044" y="4246959"/>
            <a:ext cx="2407563" cy="300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데이터 수집</a:t>
            </a:r>
            <a:endParaRPr lang="en-US" sz="1850" dirty="0"/>
          </a:p>
        </p:txBody>
      </p:sp>
      <p:sp>
        <p:nvSpPr>
          <p:cNvPr id="18" name="Text 13"/>
          <p:cNvSpPr/>
          <p:nvPr/>
        </p:nvSpPr>
        <p:spPr>
          <a:xfrm>
            <a:off x="1874044" y="4657606"/>
            <a:ext cx="12002929" cy="292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커밋, PR, 이슈 등의 데이터를 수집합니다.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1142107" y="5716191"/>
            <a:ext cx="548878" cy="22860"/>
          </a:xfrm>
          <a:prstGeom prst="roundRect">
            <a:avLst>
              <a:gd name="adj" fmla="val 720380"/>
            </a:avLst>
          </a:prstGeom>
          <a:solidFill>
            <a:srgbClr val="C1C3D0"/>
          </a:solidFill>
          <a:ln/>
        </p:spPr>
      </p:sp>
      <p:sp>
        <p:nvSpPr>
          <p:cNvPr id="20" name="Shape 15"/>
          <p:cNvSpPr/>
          <p:nvPr/>
        </p:nvSpPr>
        <p:spPr>
          <a:xfrm>
            <a:off x="753368" y="5521881"/>
            <a:ext cx="411599" cy="411599"/>
          </a:xfrm>
          <a:prstGeom prst="roundRect">
            <a:avLst>
              <a:gd name="adj" fmla="val 40010"/>
            </a:avLst>
          </a:prstGeom>
          <a:solidFill>
            <a:srgbClr val="EEEFF5"/>
          </a:solidFill>
          <a:ln/>
          <a:effectLst>
            <a:outerShdw sx="100000" sy="100000" kx="0" ky="0" algn="bl" rotWithShape="0" blurRad="45720" dist="22860" dir="13500000">
              <a:srgbClr val="ffffff">
                <a:alpha val="7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685" y="5547062"/>
            <a:ext cx="288846" cy="36111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74044" y="5499021"/>
            <a:ext cx="2407563" cy="300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AI 요약</a:t>
            </a:r>
            <a:endParaRPr lang="en-US" sz="1850" dirty="0"/>
          </a:p>
        </p:txBody>
      </p:sp>
      <p:sp>
        <p:nvSpPr>
          <p:cNvPr id="23" name="Text 17"/>
          <p:cNvSpPr/>
          <p:nvPr/>
        </p:nvSpPr>
        <p:spPr>
          <a:xfrm>
            <a:off x="1874044" y="5909667"/>
            <a:ext cx="12002929" cy="292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수집된 데이터를 AI로 분석하고 요약합니다.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1142107" y="6968252"/>
            <a:ext cx="548878" cy="22860"/>
          </a:xfrm>
          <a:prstGeom prst="roundRect">
            <a:avLst>
              <a:gd name="adj" fmla="val 720380"/>
            </a:avLst>
          </a:prstGeom>
          <a:solidFill>
            <a:srgbClr val="C1C3D0"/>
          </a:solidFill>
          <a:ln/>
        </p:spPr>
      </p:sp>
      <p:sp>
        <p:nvSpPr>
          <p:cNvPr id="25" name="Shape 19"/>
          <p:cNvSpPr/>
          <p:nvPr/>
        </p:nvSpPr>
        <p:spPr>
          <a:xfrm>
            <a:off x="753368" y="6773942"/>
            <a:ext cx="411599" cy="411599"/>
          </a:xfrm>
          <a:prstGeom prst="roundRect">
            <a:avLst>
              <a:gd name="adj" fmla="val 40010"/>
            </a:avLst>
          </a:prstGeom>
          <a:solidFill>
            <a:srgbClr val="EEEFF5"/>
          </a:solidFill>
          <a:ln/>
          <a:effectLst>
            <a:outerShdw sx="100000" sy="100000" kx="0" ky="0" algn="bl" rotWithShape="0" blurRad="45720" dist="22860" dir="13500000">
              <a:srgbClr val="ffffff">
                <a:alpha val="70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685" y="6799124"/>
            <a:ext cx="288846" cy="36111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874044" y="6751082"/>
            <a:ext cx="2407563" cy="300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포트폴리오 생성</a:t>
            </a:r>
            <a:endParaRPr lang="en-US" sz="1850" dirty="0"/>
          </a:p>
        </p:txBody>
      </p:sp>
      <p:sp>
        <p:nvSpPr>
          <p:cNvPr id="28" name="Text 21"/>
          <p:cNvSpPr/>
          <p:nvPr/>
        </p:nvSpPr>
        <p:spPr>
          <a:xfrm>
            <a:off x="1874044" y="7161728"/>
            <a:ext cx="12002929" cy="292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분석 결과를 기반으로 포트폴리오를 생성합니다.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186101"/>
            <a:ext cx="662082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설계 구체화 (향후 개발 사항)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09" y="2332077"/>
            <a:ext cx="4154567" cy="25677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309" y="517052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Django 백엔드 구조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58309" y="5656659"/>
            <a:ext cx="4154567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 서버와 데이터 처리 로직부분에서 개선(Lint 와 같은 정적 분석도구를 활용해 커밋 단위로 </a:t>
            </a:r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코드 품질 측정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 레포지토리와 커밋등의 정보 활용)</a:t>
            </a:r>
            <a:endParaRPr lang="en-US" sz="1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7798" y="2332077"/>
            <a:ext cx="4154686" cy="25677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7798" y="517052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데이터베이스 설계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7798" y="5656659"/>
            <a:ext cx="4154686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MYSQL을 활용하여 토큰 제한을 넘어서는 규모가 큰 프로젝트에서도 작동+사용자 개개인의 정보 저장 및 활용</a:t>
            </a:r>
            <a:endParaRPr lang="en-US" sz="1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7405" y="2332077"/>
            <a:ext cx="4154567" cy="256770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7405" y="517052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UI 개선과 배포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717405" y="5656659"/>
            <a:ext cx="4154567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사용자 인터페이스(다양한 템플릿과 커스텀 기능)를 개선하고 Chrome 웹스토어에 배포(AWS등의 서버 필요)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423868"/>
            <a:ext cx="9486067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설계 과정에서 예상되는 문제와 해결 방안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2569845"/>
            <a:ext cx="13113782" cy="4235767"/>
          </a:xfrm>
          <a:prstGeom prst="roundRect">
            <a:avLst>
              <a:gd name="adj" fmla="val 460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5929" y="2577465"/>
            <a:ext cx="13097232" cy="6217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83813" y="2714982"/>
            <a:ext cx="392834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예상 문제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352931" y="2714982"/>
            <a:ext cx="392453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설명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718238" y="2714982"/>
            <a:ext cx="392834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해결 방안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5929" y="3199209"/>
            <a:ext cx="13097232" cy="96845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83813" y="3336727"/>
            <a:ext cx="392834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GitHub API Rate Limit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352931" y="3336727"/>
            <a:ext cx="392453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GitHub API는 비로그인 사용자의 경우 시간당 요청 수 제한이 있음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718238" y="3336727"/>
            <a:ext cx="392834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OAuth 로그인 후, 개인 토큰 기반으로 요청하여 Rate Limit 문제 해소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65929" y="4167664"/>
            <a:ext cx="13097232" cy="13151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83813" y="4305181"/>
            <a:ext cx="392834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대용량 프로젝트 분석 부담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352931" y="4305181"/>
            <a:ext cx="392453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대규모 레포를 전체 분석 시 리소스/속도 문제가 발생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718238" y="4305181"/>
            <a:ext cx="3928348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사용자 커밋 로그에서 작성자 기반 파일 분석+DB와 청크를 활용해 분할분석후 결과 통합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65929" y="5482828"/>
            <a:ext cx="13097232" cy="131516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83813" y="5620345"/>
            <a:ext cx="392834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기여도 식별의 모호함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352931" y="5620345"/>
            <a:ext cx="392453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단순 커밋 수로 기여도를 판단하기 어렵고, 협업 시 정확도 저하.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718238" y="5620345"/>
            <a:ext cx="3928348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커밋 메타데이터, PR 활동, 파일 수정을 비롯한 레포 정보를 통합적으로 고려해 기여도 추정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64368" y="3758446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Q &amp; A</a:t>
            </a:r>
            <a:endParaRPr lang="en-US" sz="4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2025-04-17T02:00:50Z</dcterms:created>
  <dcterms:modified xsi:type="dcterms:W3CDTF">2025-04-17T02:00:50Z</dcterms:modified>
</cp:coreProperties>
</file>