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9" r:id="rId7"/>
    <p:sldId id="271" r:id="rId8"/>
    <p:sldId id="273" r:id="rId9"/>
    <p:sldId id="276" r:id="rId10"/>
    <p:sldId id="278" r:id="rId11"/>
    <p:sldId id="298" r:id="rId12"/>
    <p:sldId id="279" r:id="rId13"/>
    <p:sldId id="281" r:id="rId14"/>
    <p:sldId id="290" r:id="rId15"/>
    <p:sldId id="282" r:id="rId16"/>
    <p:sldId id="283" r:id="rId17"/>
    <p:sldId id="295" r:id="rId18"/>
    <p:sldId id="297" r:id="rId19"/>
    <p:sldId id="284" r:id="rId20"/>
    <p:sldId id="286" r:id="rId21"/>
    <p:sldId id="285" r:id="rId22"/>
    <p:sldId id="287" r:id="rId23"/>
    <p:sldId id="291" r:id="rId24"/>
    <p:sldId id="289" r:id="rId25"/>
    <p:sldId id="292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D47C6F-1DB2-20DC-3A69-AA0069F6D3C2}" name="송현섭" initials="" userId="S::shs2101@office.kw.ac.kr::e03fa80c-2d07-42ac-b1e2-a929314593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333333"/>
    <a:srgbClr val="1F2937"/>
    <a:srgbClr val="000000"/>
    <a:srgbClr val="E0F7FA"/>
    <a:srgbClr val="FFFFFF"/>
    <a:srgbClr val="DD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20" y="8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D23C1-717E-EDEE-BC0A-EA86E9E1C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1723"/>
            <a:ext cx="9144000" cy="215824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91869B-C41F-7D16-1716-01DA8D101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1DD85-5927-C8D5-3F4C-3925EFF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5F4560-96B6-758C-4178-3C463A74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392DD-5C1C-732C-BA6F-9464A923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6C67246-7AC5-64F6-88EE-C2BC848EC9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5050" t="64568" r="16480" b="13317"/>
          <a:stretch/>
        </p:blipFill>
        <p:spPr>
          <a:xfrm>
            <a:off x="9090991" y="285614"/>
            <a:ext cx="2133600" cy="5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4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D0612-087E-DF83-1834-C5B11935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547B86-2364-078E-83EA-57CE8B2AF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14F7C-5177-47AE-783F-27906845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596BAF-43D6-5D53-FA40-461C512F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B8B98D-FF8F-1930-522A-4CA30B61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8D9C2-82C3-C666-A4DB-C0296115E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DF914D-9DFE-304C-A3E8-4EDC74C21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21EF8E-0F48-C244-1780-D7E16C68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96743A-5296-9CF9-A342-E7ACF56B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E99223-B402-AFD8-B4BE-B87C3815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19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0053D-17AC-A5B4-D46A-B362EBE1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90E8D-9188-A5CE-EA39-4AB99F8BB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2F404-8CE6-2918-E112-3C0A174A8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B7B6A7-A1E6-CE84-90D8-79F7F15B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C7C037-6A6D-6FB8-0845-F9363FC53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11BA2E-A835-40D3-1BB4-78AA86DC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41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8FC27-D55E-70AA-C76E-208979703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92979-1FF2-902A-FDF9-6A6A8C3A1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F5A8B0-5F27-3F63-8B25-44F05A59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3662B8-257C-FB1B-FD42-43B15B4AF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ABC181-E5B9-C558-5380-43DC86B50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6C3C15-C49C-FD18-90CF-DF582CE8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53B8F0-B82C-50E6-86C3-FB399A81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E78AA6-13CB-01DF-9274-BB4325D4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49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F2818-3D59-E5F2-CF30-C72D9A67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0F5711-EC16-B4AB-FE98-452E5893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07FFA5-81F7-07FA-BDD8-23CC24FF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B35234-AF7D-2305-E1DE-99822051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815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309431-39CB-CD9C-0CCF-BB0225A3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5A7481-DC35-0921-B13D-AFAC33CE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4F162D-4B9D-60A6-3993-1590CA1E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45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FED28-C9BE-B8CA-ED77-5B1677BA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1F4E46-85B9-DE9F-1B50-9765082F0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8C254C-01CC-3989-2C80-673E22106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6836ED-E701-8720-4F9C-97AF65FC7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5F0AE1-B727-623F-6BC6-E4165CF7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AE4268-D6CF-DEE1-9F19-1A1648A8F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86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8CB34-73FB-A011-7522-140EE650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22E61D-503E-03EF-F6E1-6A5D4350A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D9B631-B83A-FB41-B972-BEBDE1CE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0F6C17-CB40-630A-E449-917F532E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C2A084-300D-3DFA-E59B-E4C78E7A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EA255D-4221-152B-B09C-0BA56297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96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193A7-4845-37DD-D78C-2553575A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2B93BE-F436-5AB4-CA67-913348CDE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DDAED-BED8-80A7-4E25-74C8D6F6E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3D05F3-17BA-45AA-1F29-3B7B248F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86F587-CE7D-574C-02F5-106A80DC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6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8C87EF-C97F-874D-AAA0-1C1A569D7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28D987-BEEB-CB40-4ED2-820D44413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05E48-781C-96D9-82A5-3943D241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AC14B-8A0C-48F1-9601-050BC5B6D530}" type="datetimeFigureOut">
              <a:rPr lang="ko-KR" altLang="en-US" smtClean="0"/>
              <a:t>2025-06-21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847F2-332D-E174-83AD-9756CD361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76C893-F1A5-7C08-62F1-8A8DD3CB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62A2-2EE7-4FD2-B043-AEDA93F0AB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199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EFF">
                <a:lumMod val="90000"/>
                <a:lumOff val="10000"/>
                <a:alpha val="90000"/>
              </a:srgbClr>
            </a:gs>
            <a:gs pos="50000">
              <a:srgbClr val="FFFFFF"/>
            </a:gs>
            <a:gs pos="100000">
              <a:srgbClr val="E0F7FA">
                <a:alpha val="90000"/>
                <a:lumMod val="90000"/>
                <a:lumOff val="1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96B42B-2FE1-0968-01E1-42A96574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B0A7BF-3A47-38F0-FEAB-E56911912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B80C6-7466-84CD-AE6C-B3531D6C5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 dirty="0"/>
              <a:t>광운대학교 </a:t>
            </a:r>
            <a:r>
              <a:rPr lang="ko-KR" altLang="en-US" dirty="0" err="1"/>
              <a:t>산학협력캡스톤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8537D-BE19-EB42-881E-3620AD176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 dirty="0" err="1"/>
              <a:t>GitFolio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9155A-1CE5-4677-6E5B-3148CADEE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EA62A2-2EE7-4FD2-B043-AEDA93F0ABC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8082D48-2661-DB0C-DC26-1ED05760533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l="35481" t="26346" r="38530" b="38277"/>
          <a:stretch/>
        </p:blipFill>
        <p:spPr>
          <a:xfrm>
            <a:off x="11237844" y="136525"/>
            <a:ext cx="791817" cy="80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3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b="1" u="none" kern="1200">
          <a:solidFill>
            <a:srgbClr val="1F2937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1F2937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44444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sperdcl/git-fam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Oyg-mMR6hw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Oyg-mMR6hw" TargetMode="External"/><Relationship Id="rId7" Type="http://schemas.openxmlformats.org/officeDocument/2006/relationships/hyperlink" Target="https://claude.ai/new" TargetMode="External"/><Relationship Id="rId2" Type="http://schemas.openxmlformats.org/officeDocument/2006/relationships/hyperlink" Target="https://github.com/casperdcl/git-fa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mini.google.com/app?hl=ko" TargetMode="External"/><Relationship Id="rId5" Type="http://schemas.openxmlformats.org/officeDocument/2006/relationships/hyperlink" Target="https://chatgpt.com/?model=o4-mini-high" TargetMode="External"/><Relationship Id="rId4" Type="http://schemas.openxmlformats.org/officeDocument/2006/relationships/hyperlink" Target="https://chatgpt.com/?model=o3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CFF5F-662C-CC08-CDBC-2C37AA3CA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309" y="1258572"/>
            <a:ext cx="10310191" cy="2158240"/>
          </a:xfrm>
        </p:spPr>
        <p:txBody>
          <a:bodyPr/>
          <a:lstStyle/>
          <a:p>
            <a:r>
              <a:rPr lang="ko-KR" altLang="en-US" dirty="0" err="1"/>
              <a:t>깃폴리오</a:t>
            </a:r>
            <a:r>
              <a:rPr lang="en-US" altLang="ko-KR" dirty="0"/>
              <a:t>(</a:t>
            </a:r>
            <a:r>
              <a:rPr lang="en-US" altLang="ko-KR" dirty="0" err="1"/>
              <a:t>GitFolio</a:t>
            </a:r>
            <a:r>
              <a:rPr lang="en-US" altLang="ko-KR" dirty="0"/>
              <a:t>) </a:t>
            </a:r>
            <a:r>
              <a:rPr lang="ko-KR" altLang="en-US" dirty="0"/>
              <a:t>최종보고서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91B5306E-DA14-5AC2-0EA6-6F7401448D34}"/>
              </a:ext>
            </a:extLst>
          </p:cNvPr>
          <p:cNvSpPr/>
          <p:nvPr/>
        </p:nvSpPr>
        <p:spPr>
          <a:xfrm>
            <a:off x="1185313" y="4905850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18조: 깃폴리오(GitFolio)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39870CD-7BD3-2B04-5157-C3CBE246D075}"/>
              </a:ext>
            </a:extLst>
          </p:cNvPr>
          <p:cNvSpPr/>
          <p:nvPr/>
        </p:nvSpPr>
        <p:spPr>
          <a:xfrm>
            <a:off x="1185313" y="5426073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ko-KR" altLang="en-US" sz="2400" b="1" dirty="0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송현섭</a:t>
            </a:r>
            <a:r>
              <a:rPr lang="en-US" altLang="ko-KR" sz="2400" b="1" dirty="0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, </a:t>
            </a:r>
            <a:r>
              <a:rPr lang="ko-KR" altLang="en-US" sz="2400" b="1" dirty="0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심재성</a:t>
            </a:r>
            <a:r>
              <a:rPr lang="en-US" altLang="ko-KR" sz="2400" b="1" dirty="0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, </a:t>
            </a:r>
            <a:r>
              <a:rPr lang="ko-KR" altLang="en-US" sz="2400" b="1" dirty="0" err="1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김해찬</a:t>
            </a:r>
            <a:r>
              <a:rPr lang="en-US" altLang="ko-KR" sz="2400" b="1" dirty="0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, </a:t>
            </a:r>
            <a:r>
              <a:rPr lang="ko-KR" altLang="en-US" sz="2400" b="1" dirty="0">
                <a:solidFill>
                  <a:srgbClr val="27252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김우진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0941C90-75F6-26E7-48DB-B33338EF6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163" y="3578225"/>
            <a:ext cx="9144000" cy="106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000" dirty="0">
                <a:solidFill>
                  <a:srgbClr val="272525"/>
                </a:solidFill>
                <a:cs typeface="Montserrat" pitchFamily="34" charset="-120"/>
              </a:rPr>
              <a:t>2025- 1학기 산학협력캡스톤 설계1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14393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76216-59A2-354D-7DD6-80C94A1A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0038899-E63C-4C35-F9AB-C657D4C37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  <a:endParaRPr lang="en-US" altLang="ko-KR" dirty="0"/>
          </a:p>
          <a:p>
            <a:r>
              <a:rPr lang="ko-KR" altLang="en-US" dirty="0"/>
              <a:t>관련 연구</a:t>
            </a:r>
            <a:endParaRPr lang="en-US" altLang="ko-KR" dirty="0"/>
          </a:p>
          <a:p>
            <a:r>
              <a:rPr lang="ko-KR" altLang="en-US" dirty="0"/>
              <a:t>설계</a:t>
            </a:r>
            <a:endParaRPr lang="en-US" altLang="ko-KR" dirty="0"/>
          </a:p>
          <a:p>
            <a:r>
              <a:rPr lang="ko-KR" altLang="en-US" dirty="0"/>
              <a:t>구현</a:t>
            </a:r>
            <a:endParaRPr lang="en-US" altLang="ko-KR" dirty="0"/>
          </a:p>
          <a:p>
            <a:r>
              <a:rPr lang="ko-KR" altLang="en-US" dirty="0"/>
              <a:t>결론</a:t>
            </a:r>
            <a:endParaRPr lang="en-US" altLang="ko-KR" dirty="0"/>
          </a:p>
          <a:p>
            <a:r>
              <a:rPr lang="ko-KR" altLang="en-US" dirty="0"/>
              <a:t>참고 문헌</a:t>
            </a:r>
            <a:endParaRPr lang="en-US" altLang="ko-KR" dirty="0"/>
          </a:p>
          <a:p>
            <a:r>
              <a:rPr lang="ko-KR" altLang="en-US" dirty="0"/>
              <a:t>역할 분담</a:t>
            </a:r>
            <a:r>
              <a:rPr lang="en-US" altLang="ko-KR" dirty="0"/>
              <a:t>, </a:t>
            </a:r>
            <a:r>
              <a:rPr lang="ko-KR" altLang="en-US" dirty="0"/>
              <a:t>일정</a:t>
            </a:r>
          </a:p>
        </p:txBody>
      </p:sp>
    </p:spTree>
    <p:extLst>
      <p:ext uri="{BB962C8B-B14F-4D97-AF65-F5344CB8AC3E}">
        <p14:creationId xmlns:p14="http://schemas.microsoft.com/office/powerpoint/2010/main" val="105380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B7714-D6C3-681B-0B51-5D45F01A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- </a:t>
            </a:r>
            <a:r>
              <a:rPr lang="ko-KR" altLang="en-US" dirty="0"/>
              <a:t>배경 및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A8433-A18A-E20F-C79E-26B5C0B27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개발자 포트폴리오 작성의 어려움</a:t>
            </a:r>
            <a:endParaRPr lang="en-US" altLang="ko-KR" dirty="0"/>
          </a:p>
          <a:p>
            <a:r>
              <a:rPr lang="ko-KR" altLang="en-US" dirty="0"/>
              <a:t>기존 문서화</a:t>
            </a:r>
            <a:r>
              <a:rPr lang="en-US" altLang="ko-KR" dirty="0"/>
              <a:t>, </a:t>
            </a:r>
            <a:r>
              <a:rPr lang="ko-KR" altLang="en-US" dirty="0"/>
              <a:t>자기소개의 한계</a:t>
            </a:r>
            <a:endParaRPr lang="en-US" altLang="ko-KR" dirty="0"/>
          </a:p>
          <a:p>
            <a:r>
              <a:rPr lang="ko-KR" altLang="en-US" dirty="0">
                <a:solidFill>
                  <a:schemeClr val="tx1"/>
                </a:solidFill>
              </a:rPr>
              <a:t>구체적인 개발 </a:t>
            </a:r>
            <a:r>
              <a:rPr lang="en-US" altLang="ko-KR" dirty="0">
                <a:solidFill>
                  <a:schemeClr val="tx1"/>
                </a:solidFill>
              </a:rPr>
              <a:t>tool</a:t>
            </a:r>
            <a:r>
              <a:rPr lang="ko-KR" altLang="en-US" dirty="0">
                <a:solidFill>
                  <a:schemeClr val="tx1"/>
                </a:solidFill>
              </a:rPr>
              <a:t>을 어떻게 프로젝트에 사용하였는지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프로젝트의 어떠한 부분을 기여했는지 등을 포트폴리오에 작성하려면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프로젝트를 일일이 </a:t>
            </a:r>
            <a:r>
              <a:rPr lang="ko-KR" altLang="en-US" dirty="0" err="1">
                <a:solidFill>
                  <a:schemeClr val="tx1"/>
                </a:solidFill>
              </a:rPr>
              <a:t>찾아봐야한다는</a:t>
            </a:r>
            <a:r>
              <a:rPr lang="ko-KR" altLang="en-US" dirty="0">
                <a:solidFill>
                  <a:schemeClr val="tx1"/>
                </a:solidFill>
              </a:rPr>
              <a:t> 치명적인 단점 존재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641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57BD-2735-F152-0537-DD77BB12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91DE3-F3D2-FD1C-13D8-5D6416B0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- </a:t>
            </a:r>
            <a:r>
              <a:rPr lang="en-US" altLang="ko-KR" dirty="0" err="1"/>
              <a:t>GitFolio</a:t>
            </a:r>
            <a:r>
              <a:rPr lang="en-US" altLang="ko-KR" dirty="0"/>
              <a:t> </a:t>
            </a:r>
            <a:r>
              <a:rPr lang="ko-KR" altLang="en-US" dirty="0"/>
              <a:t>제안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2C2E5-F04E-493C-8E46-B30C86E23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042"/>
            <a:ext cx="10515600" cy="5153889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altLang="ko-KR" dirty="0"/>
              <a:t>Git </a:t>
            </a:r>
            <a:r>
              <a:rPr lang="ko-KR" altLang="en-US" dirty="0" err="1"/>
              <a:t>커밋</a:t>
            </a:r>
            <a:r>
              <a:rPr lang="ko-KR" altLang="en-US" dirty="0"/>
              <a:t> 기록 자동 분석 → 포트폴리오 텍스트 생성</a:t>
            </a:r>
            <a:endParaRPr lang="en-US" altLang="ko-KR" dirty="0"/>
          </a:p>
          <a:p>
            <a:pPr marL="514350" indent="-514350">
              <a:buAutoNum type="arabicParenR"/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편의성</a:t>
            </a:r>
            <a:r>
              <a:rPr lang="en-US" altLang="ko-KR" dirty="0"/>
              <a:t>·</a:t>
            </a:r>
            <a:r>
              <a:rPr lang="ko-KR" altLang="en-US" dirty="0"/>
              <a:t>신뢰성 확보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3) </a:t>
            </a:r>
            <a:r>
              <a:rPr lang="ko-KR" altLang="en-US" dirty="0">
                <a:solidFill>
                  <a:schemeClr val="tx1"/>
                </a:solidFill>
              </a:rPr>
              <a:t>구체적인 개발 </a:t>
            </a:r>
            <a:r>
              <a:rPr lang="en-US" altLang="ko-KR" dirty="0">
                <a:solidFill>
                  <a:schemeClr val="tx1"/>
                </a:solidFill>
              </a:rPr>
              <a:t>tool </a:t>
            </a:r>
            <a:r>
              <a:rPr lang="ko-KR" altLang="en-US" dirty="0">
                <a:solidFill>
                  <a:schemeClr val="tx1"/>
                </a:solidFill>
              </a:rPr>
              <a:t>사용 및 프로젝트 기여 내역을 </a:t>
            </a:r>
            <a:r>
              <a:rPr lang="en-US" altLang="ko-KR" dirty="0" err="1">
                <a:solidFill>
                  <a:schemeClr val="tx1"/>
                </a:solidFill>
              </a:rPr>
              <a:t>github</a:t>
            </a:r>
            <a:r>
              <a:rPr lang="ko-KR" altLang="en-US" dirty="0">
                <a:solidFill>
                  <a:schemeClr val="tx1"/>
                </a:solidFill>
              </a:rPr>
              <a:t>에서 간편하게 가져와서 </a:t>
            </a:r>
            <a:r>
              <a:rPr lang="en-US" altLang="ko-KR" dirty="0">
                <a:solidFill>
                  <a:schemeClr val="tx1"/>
                </a:solidFill>
              </a:rPr>
              <a:t>LLM</a:t>
            </a:r>
            <a:r>
              <a:rPr lang="ko-KR" altLang="en-US" dirty="0">
                <a:solidFill>
                  <a:schemeClr val="tx1"/>
                </a:solidFill>
              </a:rPr>
              <a:t>을 통해 요약 분석해줄 수 있다</a:t>
            </a:r>
          </a:p>
        </p:txBody>
      </p:sp>
    </p:spTree>
    <p:extLst>
      <p:ext uri="{BB962C8B-B14F-4D97-AF65-F5344CB8AC3E}">
        <p14:creationId xmlns:p14="http://schemas.microsoft.com/office/powerpoint/2010/main" val="315567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4C34-F3ED-C2E1-7D03-57ED0F32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51F11-BE55-325A-5186-643B73BF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 </a:t>
            </a:r>
            <a:r>
              <a:rPr lang="en-US" altLang="ko-KR" dirty="0"/>
              <a:t>- </a:t>
            </a:r>
            <a:r>
              <a:rPr lang="ko-KR" altLang="en-US" dirty="0"/>
              <a:t>목표 및 기여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B9E350-67A4-727B-E2AA-53B1F6F5F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ko-KR" altLang="en-US" dirty="0"/>
              <a:t>실시간 </a:t>
            </a:r>
            <a:r>
              <a:rPr lang="en-US" altLang="ko-KR" dirty="0"/>
              <a:t>GitHub </a:t>
            </a:r>
            <a:r>
              <a:rPr lang="ko-KR" altLang="en-US" dirty="0"/>
              <a:t>연동 </a:t>
            </a:r>
            <a:r>
              <a:rPr lang="en-US" altLang="ko-KR" dirty="0"/>
              <a:t>Chrome </a:t>
            </a:r>
            <a:r>
              <a:rPr lang="ko-KR" altLang="en-US" dirty="0"/>
              <a:t>확장</a:t>
            </a:r>
            <a:endParaRPr lang="en-US" altLang="ko-KR" dirty="0"/>
          </a:p>
          <a:p>
            <a:pPr marL="514350" indent="-514350">
              <a:buAutoNum type="arabicParenR"/>
            </a:pPr>
            <a:r>
              <a:rPr lang="en-US" altLang="ko-KR" dirty="0"/>
              <a:t>LLM </a:t>
            </a:r>
            <a:r>
              <a:rPr lang="ko-KR" altLang="en-US" dirty="0"/>
              <a:t>기반 요약 </a:t>
            </a:r>
            <a:r>
              <a:rPr lang="en-US" altLang="ko-KR" dirty="0"/>
              <a:t>+ </a:t>
            </a:r>
            <a:r>
              <a:rPr lang="ko-KR" altLang="en-US" dirty="0"/>
              <a:t>정량 지표 제공</a:t>
            </a:r>
            <a:endParaRPr lang="en-US" altLang="ko-KR" dirty="0"/>
          </a:p>
          <a:p>
            <a:pPr marL="514350" indent="-514350">
              <a:buAutoNum type="arabicParenR"/>
            </a:pPr>
            <a:r>
              <a:rPr lang="ko-KR" altLang="en-US" dirty="0"/>
              <a:t>다중 </a:t>
            </a:r>
            <a:r>
              <a:rPr lang="en-US" altLang="ko-KR" dirty="0"/>
              <a:t>LLM </a:t>
            </a:r>
            <a:r>
              <a:rPr lang="ko-KR" altLang="en-US" dirty="0"/>
              <a:t>교차검증으로 신뢰도 측정</a:t>
            </a:r>
          </a:p>
        </p:txBody>
      </p:sp>
    </p:spTree>
    <p:extLst>
      <p:ext uri="{BB962C8B-B14F-4D97-AF65-F5344CB8AC3E}">
        <p14:creationId xmlns:p14="http://schemas.microsoft.com/office/powerpoint/2010/main" val="377369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79BF2-0624-A3B2-A688-5F99E93F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연구 </a:t>
            </a:r>
            <a:r>
              <a:rPr lang="en-US" altLang="ko-KR" dirty="0"/>
              <a:t>-  </a:t>
            </a:r>
            <a:r>
              <a:rPr lang="ko-KR" altLang="en-US" dirty="0"/>
              <a:t>기존도구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50A9AD-E3AA-3C5D-17CB-316F167E4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* git-fame: LOC </a:t>
            </a:r>
            <a:r>
              <a:rPr lang="ko-KR" altLang="en-US" dirty="0"/>
              <a:t>기반 기여도 산출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링크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https://github.com/casperdcl/git-fame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전체 프로젝트에서 기여자가 얼마나 </a:t>
            </a:r>
            <a:r>
              <a:rPr lang="ko-KR" altLang="en-US" dirty="0" err="1">
                <a:solidFill>
                  <a:srgbClr val="1F2328"/>
                </a:solidFill>
                <a:latin typeface="-apple-system"/>
              </a:rPr>
              <a:t>기여했는가의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 객관적 비율만 제시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   =&gt; 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자신이 구체적으로 어떤 부분 기여했는지 알기 어려움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 vs </a:t>
            </a:r>
            <a:r>
              <a:rPr lang="en-US" altLang="ko-KR" dirty="0" err="1"/>
              <a:t>GitFolio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프로젝트에서 기여자가 어떠한 내용을 기여했는지 구체적 내용 제시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 </a:t>
            </a:r>
            <a:r>
              <a:rPr lang="ko-KR" altLang="en-US" dirty="0"/>
              <a:t>포트폴리오 요약으로 매우 적합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027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76068-7DAB-1DD5-309E-A4FD56A3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2254C-F475-39A8-3279-BC2C41DF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연구 </a:t>
            </a:r>
            <a:r>
              <a:rPr lang="en-US" altLang="ko-KR" dirty="0"/>
              <a:t>- </a:t>
            </a:r>
            <a:r>
              <a:rPr lang="ko-KR" altLang="en-US" dirty="0"/>
              <a:t>차별화 포인트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9E450-66A1-FB9D-F787-2238A5163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“무엇을 기여했는지” 상세 문장 생성</a:t>
            </a:r>
            <a:endParaRPr lang="en-US" altLang="ko-KR" dirty="0"/>
          </a:p>
          <a:p>
            <a:r>
              <a:rPr lang="ko-KR" altLang="en-US" dirty="0"/>
              <a:t>다중 </a:t>
            </a:r>
            <a:r>
              <a:rPr lang="en-US" altLang="ko-KR" dirty="0"/>
              <a:t>LLM </a:t>
            </a:r>
            <a:r>
              <a:rPr lang="ko-KR" altLang="en-US" dirty="0"/>
              <a:t>교차검증 기반 신뢰도 점수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0CE968-C75E-31EE-4AAD-539D1CBDF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584" y="3300265"/>
            <a:ext cx="4496031" cy="2876698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5B07ADD-3E01-8FC2-AC91-46ACB79B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948" b="13498"/>
          <a:stretch>
            <a:fillRect/>
          </a:stretch>
        </p:blipFill>
        <p:spPr>
          <a:xfrm>
            <a:off x="574724" y="3203575"/>
            <a:ext cx="5419676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5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25F5-7D5F-6AE3-CF93-3F12DF56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86CDD-85B2-179E-D723-6BFA5A81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 </a:t>
            </a:r>
            <a:r>
              <a:rPr lang="en-US" altLang="ko-KR" dirty="0"/>
              <a:t>- </a:t>
            </a:r>
            <a:r>
              <a:rPr lang="ko-KR" altLang="en-US" dirty="0"/>
              <a:t>시스템 아키텍처 개요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2277DA4-C642-933B-725A-B98917377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GitHub API </a:t>
            </a:r>
            <a:r>
              <a:rPr lang="ko-KR" altLang="en-US" dirty="0"/>
              <a:t>호출 → </a:t>
            </a:r>
            <a:r>
              <a:rPr lang="en-US" altLang="ko-KR" dirty="0"/>
              <a:t>DB </a:t>
            </a:r>
            <a:r>
              <a:rPr lang="ko-KR" altLang="en-US" dirty="0"/>
              <a:t>저장 → 분석 파이프라인 → 요약 </a:t>
            </a:r>
            <a:r>
              <a:rPr lang="en-US" altLang="ko-KR" dirty="0"/>
              <a:t>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043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B5699-A972-9E46-F5F4-022F2FC3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 </a:t>
            </a:r>
            <a:r>
              <a:rPr lang="en-US" altLang="ko-KR" dirty="0"/>
              <a:t>- DB </a:t>
            </a:r>
            <a:r>
              <a:rPr lang="ko-KR" altLang="en-US" dirty="0"/>
              <a:t>스키마 및 연동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44855-9F92-36D1-2359-9A62DEB7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커밋</a:t>
            </a:r>
            <a:r>
              <a:rPr lang="en-US" altLang="ko-KR" dirty="0"/>
              <a:t>, </a:t>
            </a:r>
            <a:r>
              <a:rPr lang="ko-KR" altLang="en-US" dirty="0"/>
              <a:t>사용자</a:t>
            </a:r>
            <a:r>
              <a:rPr lang="en-US" altLang="ko-KR" dirty="0"/>
              <a:t>, </a:t>
            </a:r>
            <a:r>
              <a:rPr lang="ko-KR" altLang="en-US" dirty="0"/>
              <a:t>프로젝트</a:t>
            </a:r>
            <a:r>
              <a:rPr lang="en-US" altLang="ko-KR" dirty="0"/>
              <a:t>, </a:t>
            </a:r>
            <a:r>
              <a:rPr lang="ko-KR" altLang="en-US" dirty="0"/>
              <a:t>요약 결과 구조</a:t>
            </a:r>
            <a:endParaRPr lang="en-US" altLang="ko-KR" dirty="0"/>
          </a:p>
        </p:txBody>
      </p:sp>
      <p:pic>
        <p:nvPicPr>
          <p:cNvPr id="4" name="그림 3" descr="텍스트, 스크린샷, 폰트, 흑백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803C884-B922-7642-0262-9178C670E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59" y="2525773"/>
            <a:ext cx="6149441" cy="3786127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E97C7739-56E0-B5C2-417E-C8B8B096BC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41641" y="2525773"/>
            <a:ext cx="4292600" cy="3363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4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커밋을</a:t>
            </a:r>
            <a:r>
              <a:rPr lang="ko-KR" altLang="en-US" dirty="0"/>
              <a:t> 가져와 </a:t>
            </a:r>
            <a:r>
              <a:rPr lang="en-US" altLang="ko-KR" dirty="0"/>
              <a:t>DB</a:t>
            </a:r>
            <a:r>
              <a:rPr lang="ko-KR" altLang="en-US" dirty="0"/>
              <a:t>에 저장하는 위치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① GitHub API </a:t>
            </a:r>
            <a:r>
              <a:rPr lang="ko-KR" altLang="en-US" dirty="0"/>
              <a:t>호출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② DB </a:t>
            </a:r>
            <a:r>
              <a:rPr lang="ko-KR" altLang="en-US" dirty="0"/>
              <a:t>저장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③ REST </a:t>
            </a:r>
            <a:r>
              <a:rPr lang="ko-KR" altLang="en-US" dirty="0" err="1"/>
              <a:t>엔드포인트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④ 확장 프로그램 트리거</a:t>
            </a:r>
          </a:p>
        </p:txBody>
      </p:sp>
    </p:spTree>
    <p:extLst>
      <p:ext uri="{BB962C8B-B14F-4D97-AF65-F5344CB8AC3E}">
        <p14:creationId xmlns:p14="http://schemas.microsoft.com/office/powerpoint/2010/main" val="848898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DAEE7-84BB-2BE6-4BD8-EA6C2346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 </a:t>
            </a:r>
            <a:r>
              <a:rPr lang="en-US" altLang="ko-KR" dirty="0"/>
              <a:t>- AI </a:t>
            </a:r>
            <a:r>
              <a:rPr lang="ko-KR" altLang="en-US" dirty="0"/>
              <a:t>요약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BD2C6-C1BA-1684-D002-EA30521EE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프롬프트 설계 → </a:t>
            </a:r>
            <a:r>
              <a:rPr lang="en-US" altLang="ko-KR" dirty="0"/>
              <a:t>GPT, Claude, Gemini </a:t>
            </a:r>
            <a:r>
              <a:rPr lang="ko-KR" altLang="en-US" dirty="0"/>
              <a:t>호출 → 신뢰도 산출 및 합의</a:t>
            </a:r>
          </a:p>
        </p:txBody>
      </p:sp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F1D3BF-2727-86D2-520A-743C699BD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2" y="2488544"/>
            <a:ext cx="7683498" cy="353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30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50C2E-BE8A-B752-B3A9-C3DF43A6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1D430-2BDD-C0DF-A931-6F95E76E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설계 </a:t>
            </a:r>
            <a:r>
              <a:rPr lang="en-US" altLang="ko-KR" dirty="0"/>
              <a:t>- AI </a:t>
            </a:r>
            <a:r>
              <a:rPr lang="ko-KR" altLang="en-US" dirty="0"/>
              <a:t>요약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3EAD0-70AA-BC0F-07F9-0CBA33C39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2100"/>
            <a:ext cx="11163300" cy="4614863"/>
          </a:xfrm>
        </p:spPr>
        <p:txBody>
          <a:bodyPr>
            <a:normAutofit/>
          </a:bodyPr>
          <a:lstStyle/>
          <a:p>
            <a:r>
              <a:rPr lang="ko-KR" altLang="en-US" dirty="0"/>
              <a:t>프롬프트 설계 → </a:t>
            </a:r>
            <a:r>
              <a:rPr lang="en-US" altLang="ko-KR" dirty="0"/>
              <a:t>GPT, Claude, Gemini </a:t>
            </a:r>
            <a:r>
              <a:rPr lang="ko-KR" altLang="en-US" dirty="0"/>
              <a:t>호출 → 신뢰도 산출 및 합의</a:t>
            </a:r>
          </a:p>
        </p:txBody>
      </p:sp>
      <p:pic>
        <p:nvPicPr>
          <p:cNvPr id="5" name="그림 4" descr="텍스트, 스크린샷, 문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097985-AB01-9A30-CB25-02F98F455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104566"/>
            <a:ext cx="9012090" cy="45736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090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E7AB3-BA57-C0B8-045C-0D6FA9A08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4B794-B24E-40DA-C6AB-BEACA7FC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 </a:t>
            </a:r>
            <a:r>
              <a:rPr lang="en-US" altLang="ko-KR" dirty="0"/>
              <a:t>- UI/UX </a:t>
            </a:r>
            <a:r>
              <a:rPr lang="ko-KR" altLang="en-US" dirty="0"/>
              <a:t>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A1C29-65CE-A2C0-445E-528E86BF3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팝업 </a:t>
            </a:r>
            <a:r>
              <a:rPr lang="en-US" altLang="ko-KR" dirty="0"/>
              <a:t>vs </a:t>
            </a:r>
            <a:r>
              <a:rPr lang="ko-KR" altLang="en-US" dirty="0"/>
              <a:t>사이드바 모드</a:t>
            </a:r>
            <a:endParaRPr lang="en-US" altLang="ko-KR" dirty="0"/>
          </a:p>
          <a:p>
            <a:r>
              <a:rPr lang="ko-KR" altLang="en-US" dirty="0"/>
              <a:t>사용자 설정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·GitHub·</a:t>
            </a:r>
            <a:r>
              <a:rPr lang="ko-KR" altLang="en-US" dirty="0"/>
              <a:t>표시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41C262-37B7-BBEF-541D-118A22101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897" y="1027906"/>
            <a:ext cx="3727540" cy="5408322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5D26B3-C3E0-8E96-D0F8-B23D30E11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58" y="2990781"/>
            <a:ext cx="3727540" cy="3196102"/>
          </a:xfrm>
          <a:prstGeom prst="rect">
            <a:avLst/>
          </a:prstGeom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29C8EA-F699-A52C-AC63-11F5E8AF4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953" y="2990781"/>
            <a:ext cx="4155888" cy="318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45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42A7F-ECD1-3A71-72EC-D304DFE4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0C5DA-11E0-DFF2-0261-FB644A3E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</a:t>
            </a:r>
            <a:r>
              <a:rPr lang="en-US" altLang="ko-KR" dirty="0"/>
              <a:t>- Chrome Extension </a:t>
            </a:r>
            <a:r>
              <a:rPr lang="ko-KR" altLang="en-US" dirty="0"/>
              <a:t>모듈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A2B8BBF-8042-3CE2-8ABF-90C52BE606C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1825625"/>
            <a:ext cx="8129302" cy="3363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FR" altLang="ko-KR" dirty="0"/>
              <a:t>Manifest, Content Script, Popup/Sidebar</a:t>
            </a:r>
            <a:endParaRPr lang="en-US" altLang="ko-KR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D595BA-5671-AC8C-C13C-1F14EAC21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733" y="2533615"/>
            <a:ext cx="5110266" cy="3950793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37DC32-EF0A-B9D4-6211-1DCADFAC6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06" y="2244132"/>
            <a:ext cx="4096322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9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959F-1F3F-C0CD-4C82-212D12B4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스크린샷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556F31-92BD-ACD9-D9BC-8611BA813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34" y="1526628"/>
            <a:ext cx="6654136" cy="47556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A8D5A6-071B-4D28-E258-1F0FFB36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</a:t>
            </a:r>
            <a:r>
              <a:rPr lang="en-US" altLang="ko-KR" dirty="0"/>
              <a:t>- </a:t>
            </a:r>
            <a:r>
              <a:rPr lang="ko-KR" altLang="en-US" dirty="0" err="1"/>
              <a:t>백엔드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주요 기능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1FF788-B276-892B-1D73-A2985B41E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84600" cy="2983442"/>
          </a:xfrm>
        </p:spPr>
        <p:txBody>
          <a:bodyPr>
            <a:normAutofit/>
          </a:bodyPr>
          <a:lstStyle/>
          <a:p>
            <a:r>
              <a:rPr lang="ko-KR" altLang="en-US" dirty="0"/>
              <a:t>인증</a:t>
            </a:r>
            <a:r>
              <a:rPr lang="en-US" altLang="ko-KR" dirty="0"/>
              <a:t>, </a:t>
            </a:r>
            <a:r>
              <a:rPr lang="ko-KR" altLang="en-US" dirty="0" err="1"/>
              <a:t>커밋</a:t>
            </a:r>
            <a:r>
              <a:rPr lang="ko-KR" altLang="en-US" dirty="0"/>
              <a:t> 수집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요약 요청</a:t>
            </a:r>
            <a:r>
              <a:rPr lang="en-US" altLang="ko-KR" dirty="0"/>
              <a:t>, </a:t>
            </a:r>
            <a:r>
              <a:rPr lang="ko-KR" altLang="en-US" dirty="0"/>
              <a:t>결과 조회</a:t>
            </a:r>
          </a:p>
        </p:txBody>
      </p:sp>
    </p:spTree>
    <p:extLst>
      <p:ext uri="{BB962C8B-B14F-4D97-AF65-F5344CB8AC3E}">
        <p14:creationId xmlns:p14="http://schemas.microsoft.com/office/powerpoint/2010/main" val="207488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D0252-9B0A-DD28-8E00-82166DBD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</a:t>
            </a:r>
            <a:r>
              <a:rPr lang="en-US" altLang="ko-KR" dirty="0"/>
              <a:t>- </a:t>
            </a:r>
            <a:r>
              <a:rPr lang="ko-KR" altLang="en-US" dirty="0"/>
              <a:t>데이터베이스 연동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0CC07A-701D-8070-E771-0DD26ED3E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71362"/>
          </a:xfrm>
        </p:spPr>
        <p:txBody>
          <a:bodyPr>
            <a:normAutofit/>
          </a:bodyPr>
          <a:lstStyle/>
          <a:p>
            <a:r>
              <a:rPr lang="en-US" altLang="ko-KR" dirty="0"/>
              <a:t>Django ORM, MySQL </a:t>
            </a:r>
            <a:r>
              <a:rPr lang="ko-KR" altLang="en-US" dirty="0"/>
              <a:t>설정</a:t>
            </a:r>
            <a:r>
              <a:rPr lang="en-US" altLang="ko-KR" dirty="0"/>
              <a:t>, </a:t>
            </a:r>
            <a:r>
              <a:rPr lang="ko-KR" altLang="en-US" dirty="0"/>
              <a:t>성능 고려</a:t>
            </a:r>
            <a:r>
              <a:rPr lang="en-US" altLang="ko-KR" dirty="0"/>
              <a:t>(</a:t>
            </a:r>
            <a:r>
              <a:rPr lang="ko-KR" altLang="en-US" dirty="0"/>
              <a:t>토큰 제한 회피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3932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48C7-2B19-B414-68DF-9E088B27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8C116-1E8C-7794-840C-40F517C0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</a:t>
            </a:r>
            <a:r>
              <a:rPr lang="en-US" altLang="ko-KR" dirty="0"/>
              <a:t>– LLM </a:t>
            </a:r>
            <a:r>
              <a:rPr lang="ko-KR" altLang="en-US" dirty="0"/>
              <a:t>연동 및 교차검증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64AA2A-D8CD-A9D2-3A5D-78139CAC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OpenAI·Anthropic·Google</a:t>
            </a:r>
            <a:r>
              <a:rPr lang="en-US" altLang="ko-KR" dirty="0"/>
              <a:t> API </a:t>
            </a:r>
            <a:r>
              <a:rPr lang="ko-KR" altLang="en-US" dirty="0"/>
              <a:t>호출 구조</a:t>
            </a:r>
            <a:endParaRPr lang="en-US" altLang="ko-KR" dirty="0"/>
          </a:p>
          <a:p>
            <a:r>
              <a:rPr lang="ko-KR" altLang="en-US" dirty="0"/>
              <a:t>신뢰도 계산 및 합의 알고리즘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1163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8D159-AB29-D7C2-2624-D0C35777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9A92B-FC5A-8B2A-A723-0509138E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연구 </a:t>
            </a:r>
            <a:r>
              <a:rPr lang="en-US" altLang="ko-KR" dirty="0"/>
              <a:t>- </a:t>
            </a:r>
            <a:r>
              <a:rPr lang="ko-KR" altLang="en-US" dirty="0"/>
              <a:t>신뢰도 계산 및 합의 알고리즘</a:t>
            </a:r>
            <a:br>
              <a:rPr lang="en-US" altLang="ko-KR" dirty="0"/>
            </a:br>
            <a:r>
              <a:rPr lang="en-US" altLang="ko-KR" dirty="0"/>
              <a:t>(4</a:t>
            </a:r>
            <a:r>
              <a:rPr lang="ko-KR" altLang="en-US" dirty="0"/>
              <a:t>차 발표 피드백 관련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ED3CCD-3392-7E6A-9586-FFC09BA08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ko-KR" altLang="en-US" dirty="0"/>
              <a:t>신뢰성 측정에 대한 표본</a:t>
            </a:r>
            <a:r>
              <a:rPr lang="en-US" altLang="ko-KR" dirty="0"/>
              <a:t>(</a:t>
            </a:r>
            <a:r>
              <a:rPr lang="ko-KR" altLang="en-US" dirty="0"/>
              <a:t>프로젝트</a:t>
            </a:r>
            <a:r>
              <a:rPr lang="en-US" altLang="ko-KR" dirty="0"/>
              <a:t>)</a:t>
            </a:r>
            <a:r>
              <a:rPr lang="ko-KR" altLang="en-US" dirty="0"/>
              <a:t>의 수를 수 백 개 이상 많이 늘릴 수 있는 방법이 있는가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en-US" altLang="ko-KR" dirty="0"/>
              <a:t> (1) </a:t>
            </a:r>
            <a:r>
              <a:rPr lang="ko-KR" altLang="en-US" dirty="0"/>
              <a:t>일일이 많은 표본을 조사해보는 방법 </a:t>
            </a:r>
            <a:r>
              <a:rPr lang="en-US" altLang="ko-KR" dirty="0"/>
              <a:t>: </a:t>
            </a:r>
            <a:r>
              <a:rPr lang="ko-KR" altLang="en-US" dirty="0"/>
              <a:t>일반화하려면 수많은 표본이 필요하므로 이 방법엔 학부생에겐 한계가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(2) LLM</a:t>
            </a:r>
            <a:r>
              <a:rPr lang="ko-KR" altLang="en-US" dirty="0"/>
              <a:t>을 통해 직접 </a:t>
            </a:r>
            <a:r>
              <a:rPr lang="en-US" altLang="ko-KR" dirty="0"/>
              <a:t>GitHub API</a:t>
            </a:r>
            <a:r>
              <a:rPr lang="ko-KR" altLang="en-US" dirty="0"/>
              <a:t>에 연동</a:t>
            </a:r>
            <a:r>
              <a:rPr lang="en-US" altLang="ko-KR" dirty="0"/>
              <a:t>? =&gt;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 err="1"/>
              <a:t>보안때문에</a:t>
            </a:r>
            <a:r>
              <a:rPr lang="ko-KR" altLang="en-US" dirty="0"/>
              <a:t> 불가능</a:t>
            </a:r>
            <a:r>
              <a:rPr lang="en-US" altLang="ko-KR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976468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EF0EF-9A06-0C7A-1EA5-FA01A351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87451-2C28-2B68-0F89-C4F00E56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연구 </a:t>
            </a:r>
            <a:r>
              <a:rPr lang="en-US" altLang="ko-KR" dirty="0"/>
              <a:t>- </a:t>
            </a:r>
            <a:r>
              <a:rPr lang="ko-KR" altLang="en-US" dirty="0"/>
              <a:t>신뢰도 계산 및 합의 알고리즘</a:t>
            </a:r>
            <a:br>
              <a:rPr lang="en-US" altLang="ko-KR" dirty="0"/>
            </a:br>
            <a:r>
              <a:rPr lang="en-US" altLang="ko-KR" dirty="0"/>
              <a:t>(4</a:t>
            </a:r>
            <a:r>
              <a:rPr lang="ko-KR" altLang="en-US" dirty="0"/>
              <a:t>차 발표 피드백 관련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95E897-D3D7-D460-4426-101E3D844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ko-KR" altLang="en-US" dirty="0"/>
              <a:t>신뢰성 측정에 대한 표본</a:t>
            </a:r>
            <a:r>
              <a:rPr lang="en-US" altLang="ko-KR" dirty="0"/>
              <a:t>(</a:t>
            </a:r>
            <a:r>
              <a:rPr lang="ko-KR" altLang="en-US" dirty="0"/>
              <a:t>프로젝트</a:t>
            </a:r>
            <a:r>
              <a:rPr lang="en-US" altLang="ko-KR" dirty="0"/>
              <a:t>)</a:t>
            </a:r>
            <a:r>
              <a:rPr lang="ko-KR" altLang="en-US" dirty="0"/>
              <a:t>의 수를 수 백 개 이상 많이 늘릴 수 있는 방법이 있는가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en-US" altLang="ko-KR" dirty="0"/>
              <a:t>(3) GitHub API</a:t>
            </a:r>
            <a:r>
              <a:rPr lang="ko-KR" altLang="en-US" dirty="0"/>
              <a:t>와 </a:t>
            </a:r>
            <a:r>
              <a:rPr lang="en-US" altLang="ko-KR" dirty="0" err="1"/>
              <a:t>BigQuery</a:t>
            </a:r>
            <a:r>
              <a:rPr lang="en-US" altLang="ko-KR" dirty="0"/>
              <a:t> Public Dataset </a:t>
            </a:r>
            <a:r>
              <a:rPr lang="ko-KR" altLang="en-US" dirty="0"/>
              <a:t>등을 연동하여 대량 </a:t>
            </a:r>
            <a:r>
              <a:rPr lang="ko-KR" altLang="en-US" dirty="0" err="1"/>
              <a:t>리포지토리</a:t>
            </a:r>
            <a:r>
              <a:rPr lang="ko-KR" altLang="en-US" dirty="0"/>
              <a:t> 목록 확보 </a:t>
            </a:r>
            <a:r>
              <a:rPr lang="en-US" altLang="ko-KR" dirty="0"/>
              <a:t>=&gt; </a:t>
            </a:r>
            <a:r>
              <a:rPr lang="ko-KR" altLang="en-US" dirty="0"/>
              <a:t>현업에서는 가장 현실적인 방법</a:t>
            </a:r>
            <a:r>
              <a:rPr lang="en-US" altLang="ko-KR" dirty="0"/>
              <a:t>!!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학부생 수준에서는 어렵지만</a:t>
            </a:r>
            <a:r>
              <a:rPr lang="en-US" altLang="ko-KR" dirty="0"/>
              <a:t>, </a:t>
            </a:r>
            <a:r>
              <a:rPr lang="ko-KR" altLang="en-US" dirty="0"/>
              <a:t>이 프로젝트를 더욱 완성도 있게 검증하려면 가장 좋은 방법이라 생각됨</a:t>
            </a:r>
          </a:p>
        </p:txBody>
      </p:sp>
    </p:spTree>
    <p:extLst>
      <p:ext uri="{BB962C8B-B14F-4D97-AF65-F5344CB8AC3E}">
        <p14:creationId xmlns:p14="http://schemas.microsoft.com/office/powerpoint/2010/main" val="49499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9336-2B6F-1B53-7239-1136145B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43F7F-3679-92AB-F772-46EF86708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15" y="231569"/>
            <a:ext cx="10515600" cy="1325563"/>
          </a:xfrm>
        </p:spPr>
        <p:txBody>
          <a:bodyPr/>
          <a:lstStyle/>
          <a:p>
            <a:r>
              <a:rPr lang="ko-KR" altLang="en-US" dirty="0"/>
              <a:t>구현 </a:t>
            </a:r>
            <a:r>
              <a:rPr lang="en-US" altLang="ko-KR" dirty="0"/>
              <a:t>- UI </a:t>
            </a:r>
            <a:r>
              <a:rPr lang="ko-KR" altLang="en-US" dirty="0"/>
              <a:t>구현 스크린샷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18C60-6A93-BEF9-5E74-95545BD48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402292"/>
            <a:ext cx="9385300" cy="4800806"/>
          </a:xfrm>
        </p:spPr>
        <p:txBody>
          <a:bodyPr/>
          <a:lstStyle/>
          <a:p>
            <a:r>
              <a:rPr lang="ko-KR" altLang="en-US" dirty="0"/>
              <a:t>사이드패널</a:t>
            </a:r>
            <a:r>
              <a:rPr lang="en-US" altLang="ko-KR" dirty="0"/>
              <a:t>, </a:t>
            </a:r>
            <a:r>
              <a:rPr lang="ko-KR" altLang="en-US" dirty="0"/>
              <a:t>저장된 개요 목록</a:t>
            </a:r>
            <a:r>
              <a:rPr lang="en-US" altLang="ko-KR" dirty="0"/>
              <a:t> </a:t>
            </a:r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A84100-DCA0-64BC-675E-5BC5A4624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978968"/>
            <a:ext cx="5359675" cy="4457929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924AF7-6FCA-03BE-3AE9-053E3C1AF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334" y="1972618"/>
            <a:ext cx="3729885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81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106A-01DE-4169-3477-5FC29A24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D4576C-257A-AB57-EC70-E767E242C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" b="-86"/>
          <a:stretch>
            <a:fillRect/>
          </a:stretch>
        </p:blipFill>
        <p:spPr>
          <a:xfrm>
            <a:off x="3269996" y="1254952"/>
            <a:ext cx="8701871" cy="52624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BFBEA4-4CD0-EC41-100B-039FB6FD3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15" y="231569"/>
            <a:ext cx="10515600" cy="1325563"/>
          </a:xfrm>
        </p:spPr>
        <p:txBody>
          <a:bodyPr/>
          <a:lstStyle/>
          <a:p>
            <a:r>
              <a:rPr lang="ko-KR" altLang="en-US" dirty="0"/>
              <a:t>구현 </a:t>
            </a:r>
            <a:r>
              <a:rPr lang="en-US" altLang="ko-KR" dirty="0"/>
              <a:t>- </a:t>
            </a:r>
            <a:r>
              <a:rPr lang="ko-KR" altLang="en-US" dirty="0"/>
              <a:t>테스트 및 시연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73E65-8634-C83D-F980-A0CEE3CE9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67" y="1825625"/>
            <a:ext cx="3014133" cy="4691825"/>
          </a:xfrm>
        </p:spPr>
        <p:txBody>
          <a:bodyPr>
            <a:normAutofit/>
          </a:bodyPr>
          <a:lstStyle/>
          <a:p>
            <a:r>
              <a:rPr lang="ko-KR" altLang="en-US" dirty="0"/>
              <a:t>주요 기능 정상 동작 확인</a:t>
            </a:r>
            <a:endParaRPr lang="en-US" altLang="ko-KR" dirty="0"/>
          </a:p>
          <a:p>
            <a:r>
              <a:rPr lang="en-US" altLang="ko-KR" dirty="0"/>
              <a:t>YouTube </a:t>
            </a:r>
            <a:r>
              <a:rPr lang="ko-KR" altLang="en-US" dirty="0"/>
              <a:t>시연</a:t>
            </a:r>
            <a:r>
              <a:rPr lang="en-US" altLang="ko-KR" dirty="0"/>
              <a:t>(</a:t>
            </a:r>
            <a:r>
              <a:rPr lang="ko-KR" altLang="en-US" dirty="0"/>
              <a:t>실행</a:t>
            </a:r>
            <a:r>
              <a:rPr lang="en-US" altLang="ko-KR" dirty="0"/>
              <a:t>)</a:t>
            </a:r>
            <a:r>
              <a:rPr lang="ko-KR" altLang="en-US" dirty="0"/>
              <a:t> 영상 링크</a:t>
            </a: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hlinkClick r:id="rId3"/>
              </a:rPr>
              <a:t>https://youtu.be/vOyg-mMR6hw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4556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C9002-AD00-B7D9-23C6-E1C3C333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2C305-ED0A-613F-F7DF-D9C0F5E7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15" y="231569"/>
            <a:ext cx="10515600" cy="1325563"/>
          </a:xfrm>
        </p:spPr>
        <p:txBody>
          <a:bodyPr/>
          <a:lstStyle/>
          <a:p>
            <a:r>
              <a:rPr lang="ko-KR" altLang="en-US" dirty="0"/>
              <a:t>결론 </a:t>
            </a:r>
            <a:r>
              <a:rPr lang="en-US" altLang="ko-KR" dirty="0"/>
              <a:t>- </a:t>
            </a:r>
            <a:r>
              <a:rPr lang="ko-KR" altLang="en-US" dirty="0"/>
              <a:t>성과 요약 </a:t>
            </a:r>
            <a:r>
              <a:rPr lang="en-US" altLang="ko-KR" dirty="0"/>
              <a:t>(4</a:t>
            </a:r>
            <a:r>
              <a:rPr lang="ko-KR" altLang="en-US" dirty="0"/>
              <a:t>차 피드백 관련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713918-755F-FA31-36CB-492C0B65C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3533" cy="4800806"/>
          </a:xfrm>
        </p:spPr>
        <p:txBody>
          <a:bodyPr>
            <a:normAutofit/>
          </a:bodyPr>
          <a:lstStyle/>
          <a:p>
            <a:r>
              <a:rPr lang="ko-KR" altLang="en-US" dirty="0"/>
              <a:t>목표 달성 여부</a:t>
            </a:r>
            <a:endParaRPr lang="en-US" altLang="ko-KR" dirty="0"/>
          </a:p>
          <a:p>
            <a:r>
              <a:rPr lang="ko-KR" altLang="en-US" dirty="0"/>
              <a:t>차별화 요소 </a:t>
            </a:r>
            <a:r>
              <a:rPr lang="en-US" altLang="ko-KR" dirty="0"/>
              <a:t>(4</a:t>
            </a:r>
            <a:r>
              <a:rPr lang="ko-KR" altLang="en-US" dirty="0"/>
              <a:t>차 피드백 내용 </a:t>
            </a:r>
            <a:r>
              <a:rPr lang="en-US" altLang="ko-KR" dirty="0"/>
              <a:t>: </a:t>
            </a:r>
            <a:r>
              <a:rPr lang="en-US" altLang="ko-KR" dirty="0" err="1"/>
              <a:t>GitFolio</a:t>
            </a:r>
            <a:r>
              <a:rPr lang="ko-KR" altLang="en-US" dirty="0"/>
              <a:t>의 뚜렷한 특장점은</a:t>
            </a:r>
            <a:r>
              <a:rPr lang="en-US" altLang="ko-KR" dirty="0"/>
              <a:t>?)</a:t>
            </a:r>
          </a:p>
          <a:p>
            <a:pPr marL="0" indent="0">
              <a:buNone/>
            </a:pPr>
            <a:r>
              <a:rPr lang="en-US" altLang="ko-KR" dirty="0"/>
              <a:t>=&gt; </a:t>
            </a:r>
            <a:r>
              <a:rPr lang="en-US" altLang="ko-KR" dirty="0" err="1"/>
              <a:t>GitFolio</a:t>
            </a:r>
            <a:r>
              <a:rPr lang="ko-KR" altLang="en-US" dirty="0"/>
              <a:t>의 뚜렷한 특장점 </a:t>
            </a:r>
            <a:r>
              <a:rPr lang="en-US" altLang="ko-KR" dirty="0"/>
              <a:t>— “</a:t>
            </a:r>
            <a:r>
              <a:rPr lang="ko-KR" altLang="en-US" dirty="0"/>
              <a:t>경쟁 툴과 한눈에 구분되는 가지”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다중 </a:t>
            </a:r>
            <a:r>
              <a:rPr lang="en-US" altLang="ko-KR" dirty="0"/>
              <a:t>LLM </a:t>
            </a:r>
            <a:r>
              <a:rPr lang="ko-KR" altLang="en-US" dirty="0"/>
              <a:t>교차 검증 </a:t>
            </a:r>
            <a:r>
              <a:rPr lang="en-US" altLang="ko-KR" dirty="0"/>
              <a:t>: GPT-4 · Claude · Gemini · GPT-o3 </a:t>
            </a:r>
            <a:r>
              <a:rPr lang="ko-KR" altLang="en-US" dirty="0"/>
              <a:t>점수를 </a:t>
            </a:r>
            <a:r>
              <a:rPr lang="en-US" altLang="ko-KR" dirty="0"/>
              <a:t>ensemble → </a:t>
            </a:r>
            <a:r>
              <a:rPr lang="ko-KR" altLang="en-US" dirty="0" err="1"/>
              <a:t>수치화된</a:t>
            </a:r>
            <a:r>
              <a:rPr lang="ko-KR" altLang="en-US" dirty="0"/>
              <a:t> 신뢰도 제공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의미론적 기여 추출 </a:t>
            </a:r>
            <a:r>
              <a:rPr lang="en-US" altLang="ko-KR" dirty="0"/>
              <a:t>: PR </a:t>
            </a:r>
            <a:r>
              <a:rPr lang="ko-KR" altLang="en-US" dirty="0"/>
              <a:t>설명</a:t>
            </a:r>
            <a:r>
              <a:rPr lang="en-US" altLang="ko-KR" dirty="0"/>
              <a:t>, </a:t>
            </a:r>
            <a:r>
              <a:rPr lang="ko-KR" altLang="en-US" dirty="0"/>
              <a:t>이슈 대화</a:t>
            </a:r>
            <a:r>
              <a:rPr lang="en-US" altLang="ko-KR" dirty="0"/>
              <a:t>, </a:t>
            </a:r>
            <a:r>
              <a:rPr lang="ko-KR" altLang="en-US" dirty="0"/>
              <a:t>코드 </a:t>
            </a:r>
            <a:r>
              <a:rPr lang="en-US" altLang="ko-KR" dirty="0"/>
              <a:t>diff</a:t>
            </a:r>
            <a:r>
              <a:rPr lang="ko-KR" altLang="en-US" dirty="0"/>
              <a:t>까지 벡터화 → “무엇을 해결했는지” 요약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Chrome </a:t>
            </a:r>
            <a:r>
              <a:rPr lang="ko-KR" altLang="en-US" dirty="0"/>
              <a:t>사이드패널 </a:t>
            </a:r>
            <a:r>
              <a:rPr lang="en-US" altLang="ko-KR" dirty="0"/>
              <a:t>UX : </a:t>
            </a:r>
            <a:r>
              <a:rPr lang="ko-KR" altLang="en-US" dirty="0"/>
              <a:t>브라우저 안에서 원</a:t>
            </a:r>
            <a:r>
              <a:rPr lang="en-US" altLang="ko-KR" dirty="0"/>
              <a:t>-</a:t>
            </a:r>
            <a:r>
              <a:rPr lang="ko-KR" altLang="en-US" dirty="0"/>
              <a:t>클릭 포트폴리오 프리뷰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64398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157D-088F-734B-54B0-4C74D97E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39E64-2FC3-C78D-F0E6-7FC56B28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15" y="231569"/>
            <a:ext cx="10515600" cy="1325563"/>
          </a:xfrm>
        </p:spPr>
        <p:txBody>
          <a:bodyPr/>
          <a:lstStyle/>
          <a:p>
            <a:r>
              <a:rPr lang="ko-KR" altLang="en-US" dirty="0"/>
              <a:t>결론 </a:t>
            </a:r>
            <a:r>
              <a:rPr lang="en-US" altLang="ko-KR" dirty="0"/>
              <a:t>– </a:t>
            </a:r>
            <a:r>
              <a:rPr lang="ko-KR" altLang="en-US" dirty="0"/>
              <a:t>향후 과제 및 개선점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D08ABA-BBAF-F306-7EF5-15FAA0F18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1" cy="4380442"/>
          </a:xfrm>
        </p:spPr>
        <p:txBody>
          <a:bodyPr/>
          <a:lstStyle/>
          <a:p>
            <a:r>
              <a:rPr lang="ko-KR" altLang="en-US" dirty="0"/>
              <a:t>분석 요약을 한 근거의 코드 보기 기능 추가 검토</a:t>
            </a:r>
            <a:endParaRPr lang="en-US" altLang="ko-KR" dirty="0"/>
          </a:p>
          <a:p>
            <a:r>
              <a:rPr lang="ko-KR" altLang="en-US" dirty="0"/>
              <a:t>신뢰성 측정에 대한 표본</a:t>
            </a:r>
            <a:r>
              <a:rPr lang="en-US" altLang="ko-KR" dirty="0"/>
              <a:t>(</a:t>
            </a:r>
            <a:r>
              <a:rPr lang="ko-KR" altLang="en-US" dirty="0"/>
              <a:t>프로젝트</a:t>
            </a:r>
            <a:r>
              <a:rPr lang="en-US" altLang="ko-KR" dirty="0"/>
              <a:t>)</a:t>
            </a:r>
            <a:r>
              <a:rPr lang="ko-KR" altLang="en-US" dirty="0"/>
              <a:t>의 수를 많이 늘릴 수 있는 방법 </a:t>
            </a:r>
            <a:r>
              <a:rPr lang="en-US" altLang="ko-KR" dirty="0"/>
              <a:t>(4</a:t>
            </a:r>
            <a:r>
              <a:rPr lang="ko-KR" altLang="en-US" dirty="0"/>
              <a:t>차 발표 후 피드백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=&gt; GitHub API</a:t>
            </a:r>
            <a:r>
              <a:rPr lang="ko-KR" altLang="en-US" dirty="0"/>
              <a:t>와 </a:t>
            </a:r>
            <a:r>
              <a:rPr lang="en-US" altLang="ko-KR" dirty="0" err="1"/>
              <a:t>BigQuery</a:t>
            </a:r>
            <a:r>
              <a:rPr lang="en-US" altLang="ko-KR" dirty="0"/>
              <a:t> Public Dataset </a:t>
            </a:r>
            <a:r>
              <a:rPr lang="ko-KR" altLang="en-US" dirty="0"/>
              <a:t>등을 연동하여 대량 </a:t>
            </a:r>
            <a:r>
              <a:rPr lang="ko-KR" altLang="en-US" dirty="0" err="1"/>
              <a:t>리포지토리</a:t>
            </a:r>
            <a:r>
              <a:rPr lang="ko-KR" altLang="en-US" dirty="0"/>
              <a:t> 목록 확보 검토</a:t>
            </a:r>
            <a:endParaRPr lang="en-US" altLang="ko-KR" dirty="0"/>
          </a:p>
          <a:p>
            <a:r>
              <a:rPr lang="en-US" altLang="ko-KR" dirty="0"/>
              <a:t>Chrome </a:t>
            </a:r>
            <a:r>
              <a:rPr lang="ko-KR" altLang="en-US" dirty="0"/>
              <a:t>웹스토어 배포</a:t>
            </a:r>
            <a:r>
              <a:rPr lang="en-US" altLang="ko-KR" dirty="0"/>
              <a:t>, </a:t>
            </a:r>
            <a:r>
              <a:rPr lang="ko-KR" altLang="en-US" dirty="0"/>
              <a:t>사용자 평가 설문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 </a:t>
            </a:r>
            <a:r>
              <a:rPr lang="ko-KR" altLang="en-US" dirty="0"/>
              <a:t>윗 부분은 짧은 기간 내에 수행하기 어렵지만</a:t>
            </a:r>
            <a:r>
              <a:rPr lang="en-US" altLang="ko-KR" dirty="0"/>
              <a:t>, </a:t>
            </a:r>
            <a:r>
              <a:rPr lang="ko-KR" altLang="en-US" dirty="0"/>
              <a:t>위와 같은 추가적인 옵션까지 모두 완성한다면 더욱 더 검증된 </a:t>
            </a:r>
            <a:r>
              <a:rPr lang="en-US" altLang="ko-KR" dirty="0" err="1"/>
              <a:t>GitFolio</a:t>
            </a:r>
            <a:r>
              <a:rPr lang="en-US" altLang="ko-KR" dirty="0"/>
              <a:t> </a:t>
            </a:r>
            <a:r>
              <a:rPr lang="ko-KR" altLang="en-US" dirty="0"/>
              <a:t>프로젝트가 될 것이다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29537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9D474-5BE0-EC29-F525-9D95972B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문헌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64FCD5-911C-114D-D642-3497515C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384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[1] 18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 err="1"/>
              <a:t>깃폴리오</a:t>
            </a:r>
            <a:r>
              <a:rPr lang="en-US" altLang="ko-KR" dirty="0"/>
              <a:t>(</a:t>
            </a:r>
            <a:r>
              <a:rPr lang="en-US" altLang="ko-KR" dirty="0" err="1"/>
              <a:t>gitfolio</a:t>
            </a:r>
            <a:r>
              <a:rPr lang="en-US" altLang="ko-KR" dirty="0"/>
              <a:t>) 1~4</a:t>
            </a:r>
            <a:r>
              <a:rPr lang="ko-KR" altLang="en-US" dirty="0"/>
              <a:t>차 발표 </a:t>
            </a:r>
            <a:r>
              <a:rPr lang="en-US" altLang="ko-KR" dirty="0"/>
              <a:t>PPT</a:t>
            </a:r>
          </a:p>
          <a:p>
            <a:pPr marL="0" indent="0">
              <a:buNone/>
            </a:pPr>
            <a:r>
              <a:rPr lang="en-US" altLang="ko-KR" dirty="0"/>
              <a:t>[2] git-fame: </a:t>
            </a:r>
            <a:r>
              <a:rPr lang="en-US" altLang="ko-KR" dirty="0">
                <a:hlinkClick r:id="rId2"/>
              </a:rPr>
              <a:t>https://github.com/casperdcl/git-fame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[3] </a:t>
            </a:r>
            <a:r>
              <a:rPr lang="en-US" altLang="ko-KR" dirty="0" err="1"/>
              <a:t>GitFolio</a:t>
            </a:r>
            <a:r>
              <a:rPr lang="ko-KR" altLang="en-US" dirty="0"/>
              <a:t> 시연 영상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https://youtu.be/vOyg-mMR6hw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[4] </a:t>
            </a:r>
            <a:r>
              <a:rPr lang="ko-KR" altLang="en-US" dirty="0"/>
              <a:t>정확성</a:t>
            </a:r>
            <a:r>
              <a:rPr lang="en-US" altLang="ko-KR" dirty="0"/>
              <a:t>/</a:t>
            </a:r>
            <a:r>
              <a:rPr lang="ko-KR" altLang="en-US" dirty="0"/>
              <a:t>신뢰도 검증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linkClick r:id="rId4"/>
              </a:rPr>
              <a:t>https://chatgpt.com/?model=o3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linkClick r:id="rId5"/>
              </a:rPr>
              <a:t>https://chatgpt.com/?model=o4-mini-high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linkClick r:id="rId6"/>
              </a:rPr>
              <a:t>https://gemini.google.com/app?hl=ko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linkClick r:id="rId7"/>
              </a:rPr>
              <a:t>https://claude.ai/new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73107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4F11-4519-F762-C88F-986AD0D2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B245-DAE9-05AE-19F7-11B4883A3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15" y="231569"/>
            <a:ext cx="10515600" cy="1325563"/>
          </a:xfrm>
        </p:spPr>
        <p:txBody>
          <a:bodyPr/>
          <a:lstStyle/>
          <a:p>
            <a:r>
              <a:rPr lang="ko-KR" altLang="en-US" dirty="0"/>
              <a:t>역할 분담 및 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F9B95C-B7BC-3F9A-E1B3-E1750B642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4616" cy="4244975"/>
          </a:xfrm>
        </p:spPr>
        <p:txBody>
          <a:bodyPr/>
          <a:lstStyle/>
          <a:p>
            <a:r>
              <a:rPr lang="ko-KR" altLang="en-US" dirty="0"/>
              <a:t>역할 분담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김우진</a:t>
            </a:r>
            <a:r>
              <a:rPr lang="en-US" altLang="ko-KR" dirty="0"/>
              <a:t>: </a:t>
            </a:r>
            <a:r>
              <a:rPr lang="ko-KR" altLang="en-US" dirty="0"/>
              <a:t>로그인 부분 기능 </a:t>
            </a:r>
            <a:r>
              <a:rPr lang="en-US" altLang="ko-KR" dirty="0"/>
              <a:t>UI/</a:t>
            </a:r>
            <a:r>
              <a:rPr lang="ko-KR" altLang="en-US" dirty="0" err="1"/>
              <a:t>백엔드</a:t>
            </a:r>
            <a:r>
              <a:rPr lang="en-US" altLang="ko-KR" dirty="0"/>
              <a:t> &amp; </a:t>
            </a:r>
            <a:r>
              <a:rPr lang="ko-KR" altLang="en-US" dirty="0" err="1"/>
              <a:t>프론트엔드와</a:t>
            </a:r>
            <a:r>
              <a:rPr lang="ko-KR" altLang="en-US" dirty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연결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송현섭</a:t>
            </a:r>
            <a:r>
              <a:rPr lang="en-US" altLang="ko-KR" dirty="0"/>
              <a:t>: LLM </a:t>
            </a:r>
            <a:r>
              <a:rPr lang="ko-KR" altLang="en-US" dirty="0"/>
              <a:t>요약 엔진</a:t>
            </a:r>
            <a:r>
              <a:rPr lang="en-US" altLang="ko-KR" dirty="0"/>
              <a:t> &amp; </a:t>
            </a:r>
            <a:r>
              <a:rPr lang="ko-KR" altLang="en-US" dirty="0"/>
              <a:t>타당성</a:t>
            </a:r>
            <a:r>
              <a:rPr lang="en-US" altLang="ko-KR" dirty="0"/>
              <a:t>/</a:t>
            </a:r>
            <a:r>
              <a:rPr lang="ko-KR" altLang="en-US" dirty="0"/>
              <a:t>신뢰도 검증</a:t>
            </a:r>
            <a:r>
              <a:rPr lang="en-US" altLang="ko-KR" dirty="0"/>
              <a:t>(GPT o4-mini-high, Gemini 2.5 pro)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 err="1"/>
              <a:t>김해찬</a:t>
            </a:r>
            <a:r>
              <a:rPr lang="en-US" altLang="ko-KR" dirty="0"/>
              <a:t>: LLM </a:t>
            </a:r>
            <a:r>
              <a:rPr lang="ko-KR" altLang="en-US" dirty="0"/>
              <a:t>요약 엔진 </a:t>
            </a:r>
            <a:r>
              <a:rPr lang="en-US" altLang="ko-KR" dirty="0"/>
              <a:t>&amp; </a:t>
            </a:r>
            <a:r>
              <a:rPr lang="ko-KR" altLang="en-US" dirty="0"/>
              <a:t>타당성</a:t>
            </a:r>
            <a:r>
              <a:rPr lang="en-US" altLang="ko-KR" dirty="0"/>
              <a:t>/</a:t>
            </a:r>
            <a:r>
              <a:rPr lang="ko-KR" altLang="en-US" dirty="0"/>
              <a:t>신뢰도 검증</a:t>
            </a:r>
            <a:r>
              <a:rPr lang="en-US" altLang="ko-KR" dirty="0"/>
              <a:t>(GPT 4.1, Claude 4.0)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심재성</a:t>
            </a:r>
            <a:r>
              <a:rPr lang="en-US" altLang="ko-KR" dirty="0"/>
              <a:t>: UI/UX &amp; Chrome Extension &amp; Side Pannel</a:t>
            </a:r>
          </a:p>
        </p:txBody>
      </p:sp>
    </p:spTree>
    <p:extLst>
      <p:ext uri="{BB962C8B-B14F-4D97-AF65-F5344CB8AC3E}">
        <p14:creationId xmlns:p14="http://schemas.microsoft.com/office/powerpoint/2010/main" val="1070891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2449E-F491-78BC-E2CE-8FC5AC56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역할 분담 및 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69562D-2C86-1A04-8251-5E9C9865C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1~2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주제 선정</a:t>
            </a:r>
            <a:r>
              <a:rPr lang="en-US" altLang="ko-KR" dirty="0"/>
              <a:t>, </a:t>
            </a:r>
            <a:r>
              <a:rPr lang="ko-KR" altLang="en-US" dirty="0"/>
              <a:t>역할 분담 초안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3~5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개발 테스트 </a:t>
            </a:r>
            <a:r>
              <a:rPr lang="en-US" altLang="ko-KR" dirty="0"/>
              <a:t>- </a:t>
            </a:r>
            <a:r>
              <a:rPr lang="ko-KR" altLang="en-US" dirty="0" err="1"/>
              <a:t>커밋</a:t>
            </a:r>
            <a:r>
              <a:rPr lang="ko-KR" altLang="en-US" dirty="0"/>
              <a:t> 분석 결과 테스트 및 개선점 찾기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6~8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개요결과 부분 수정</a:t>
            </a:r>
            <a:r>
              <a:rPr lang="en-US" altLang="ko-KR" dirty="0"/>
              <a:t>, DB </a:t>
            </a:r>
            <a:r>
              <a:rPr lang="ko-KR" altLang="en-US" dirty="0"/>
              <a:t>연동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9~11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추가개발부분 </a:t>
            </a:r>
            <a:r>
              <a:rPr lang="en-US" altLang="ko-KR" dirty="0"/>
              <a:t>– </a:t>
            </a:r>
            <a:r>
              <a:rPr lang="ko-KR" altLang="en-US" dirty="0"/>
              <a:t>저장된 </a:t>
            </a:r>
            <a:r>
              <a:rPr lang="ko-KR" altLang="en-US" dirty="0" err="1"/>
              <a:t>커밋분석</a:t>
            </a:r>
            <a:r>
              <a:rPr lang="ko-KR" altLang="en-US" dirty="0"/>
              <a:t> 결과 불러오기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12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로그인 부분 보완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13~14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en-US" altLang="ko-KR" dirty="0" err="1"/>
              <a:t>GitFolio</a:t>
            </a:r>
            <a:r>
              <a:rPr lang="ko-KR" altLang="en-US" dirty="0"/>
              <a:t>의 정확도</a:t>
            </a:r>
            <a:r>
              <a:rPr lang="en-US" altLang="ko-KR" dirty="0"/>
              <a:t>/</a:t>
            </a:r>
            <a:r>
              <a:rPr lang="ko-KR" altLang="en-US" dirty="0"/>
              <a:t>신뢰도 검증 연구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0312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</TotalTime>
  <Words>957</Words>
  <Application>Microsoft Office PowerPoint</Application>
  <PresentationFormat>와이드스크린</PresentationFormat>
  <Paragraphs>110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-apple-system</vt:lpstr>
      <vt:lpstr>Noto Sans KR</vt:lpstr>
      <vt:lpstr>맑은 고딕</vt:lpstr>
      <vt:lpstr>Arial</vt:lpstr>
      <vt:lpstr>Montserrat</vt:lpstr>
      <vt:lpstr>Symbol</vt:lpstr>
      <vt:lpstr>Office 테마</vt:lpstr>
      <vt:lpstr>깃폴리오(GitFolio) 최종보고서</vt:lpstr>
      <vt:lpstr>목차</vt:lpstr>
      <vt:lpstr>서론 - 배경 및 문제 정의</vt:lpstr>
      <vt:lpstr>서론 - GitFolio 제안</vt:lpstr>
      <vt:lpstr>서론 - 목표 및 기여</vt:lpstr>
      <vt:lpstr>관련 연구 -  기존도구 비교</vt:lpstr>
      <vt:lpstr>관련 연구 - 차별화 포인트</vt:lpstr>
      <vt:lpstr>설계 - 시스템 아키텍처 개요</vt:lpstr>
      <vt:lpstr>설계 - DB 스키마 및 연동 구조</vt:lpstr>
      <vt:lpstr>설계 - AI 요약 파이프라인</vt:lpstr>
      <vt:lpstr>설계 - AI 요약 파이프라인</vt:lpstr>
      <vt:lpstr>설계 - UI/UX 설계</vt:lpstr>
      <vt:lpstr>구현 - Chrome Extension 모듈</vt:lpstr>
      <vt:lpstr>구현 - 백엔드 API 주요 기능</vt:lpstr>
      <vt:lpstr>구현 - 데이터베이스 연동</vt:lpstr>
      <vt:lpstr>구현 – LLM 연동 및 교차검증</vt:lpstr>
      <vt:lpstr>관련 연구 - 신뢰도 계산 및 합의 알고리즘 (4차 발표 피드백 관련)</vt:lpstr>
      <vt:lpstr>관련 연구 - 신뢰도 계산 및 합의 알고리즘 (4차 발표 피드백 관련)</vt:lpstr>
      <vt:lpstr>구현 - UI 구현 스크린샷</vt:lpstr>
      <vt:lpstr>구현 - 테스트 및 시연 요약</vt:lpstr>
      <vt:lpstr>결론 - 성과 요약 (4차 피드백 관련)</vt:lpstr>
      <vt:lpstr>결론 – 향후 과제 및 개선점</vt:lpstr>
      <vt:lpstr>참고 문헌</vt:lpstr>
      <vt:lpstr>역할 분담 및 일정</vt:lpstr>
      <vt:lpstr>역할 분담 및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송현섭</dc:creator>
  <cp:lastModifiedBy>송현섭</cp:lastModifiedBy>
  <cp:revision>36</cp:revision>
  <dcterms:created xsi:type="dcterms:W3CDTF">2025-05-14T11:39:19Z</dcterms:created>
  <dcterms:modified xsi:type="dcterms:W3CDTF">2025-06-21T06:28:35Z</dcterms:modified>
</cp:coreProperties>
</file>